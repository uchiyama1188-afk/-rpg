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  <p:sldId id="285" r:id="rId8"/>
    <p:sldId id="288" r:id="rId9"/>
    <p:sldId id="289" r:id="rId10"/>
    <p:sldId id="290" r:id="rId11"/>
    <p:sldId id="277" r:id="rId12"/>
    <p:sldId id="29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26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io Jinsenji 秦泉寺 章夫" userId="988e9aa6-b528-4e7d-9003-87e4f32d5b0d" providerId="ADAL" clId="{9A1D054F-6236-4F21-9BCD-CDAFA275B7C6}"/>
    <pc:docChg chg="modSld">
      <pc:chgData name="Akio Jinsenji 秦泉寺 章夫" userId="988e9aa6-b528-4e7d-9003-87e4f32d5b0d" providerId="ADAL" clId="{9A1D054F-6236-4F21-9BCD-CDAFA275B7C6}" dt="2026-09-07T09:42:27.080" v="4" actId="20577"/>
      <pc:docMkLst>
        <pc:docMk/>
      </pc:docMkLst>
      <pc:sldChg chg="modSp mod">
        <pc:chgData name="Akio Jinsenji 秦泉寺 章夫" userId="988e9aa6-b528-4e7d-9003-87e4f32d5b0d" providerId="ADAL" clId="{9A1D054F-6236-4F21-9BCD-CDAFA275B7C6}" dt="2026-09-07T09:42:27.080" v="4" actId="20577"/>
        <pc:sldMkLst>
          <pc:docMk/>
          <pc:sldMk cId="1456421428" sldId="256"/>
        </pc:sldMkLst>
        <pc:spChg chg="mod">
          <ac:chgData name="Akio Jinsenji 秦泉寺 章夫" userId="988e9aa6-b528-4e7d-9003-87e4f32d5b0d" providerId="ADAL" clId="{9A1D054F-6236-4F21-9BCD-CDAFA275B7C6}" dt="2026-09-07T09:42:27.080" v="4" actId="20577"/>
          <ac:spMkLst>
            <pc:docMk/>
            <pc:sldMk cId="1456421428" sldId="256"/>
            <ac:spMk id="3" creationId="{738FF5A2-A843-443C-BCA9-BB5780BFCF30}"/>
          </ac:spMkLst>
        </pc:spChg>
      </pc:sldChg>
    </pc:docChg>
  </pc:docChgLst>
  <pc:docChgLst>
    <pc:chgData name="秦泉寺 先生" userId="0c027005-9a2b-4620-a496-da82faf440cd" providerId="ADAL" clId="{1DFD37A9-56E6-429F-AB3D-4B71332D1A31}"/>
    <pc:docChg chg="addSld modSld sldOrd">
      <pc:chgData name="秦泉寺 先生" userId="0c027005-9a2b-4620-a496-da82faf440cd" providerId="ADAL" clId="{1DFD37A9-56E6-429F-AB3D-4B71332D1A31}" dt="2026-09-08T05:42:28.650" v="336" actId="20577"/>
      <pc:docMkLst>
        <pc:docMk/>
      </pc:docMkLst>
      <pc:sldChg chg="modSp mod ord">
        <pc:chgData name="秦泉寺 先生" userId="0c027005-9a2b-4620-a496-da82faf440cd" providerId="ADAL" clId="{1DFD37A9-56E6-429F-AB3D-4B71332D1A31}" dt="2026-09-08T05:42:28.650" v="336" actId="20577"/>
        <pc:sldMkLst>
          <pc:docMk/>
          <pc:sldMk cId="2916201272" sldId="277"/>
        </pc:sldMkLst>
        <pc:spChg chg="mod">
          <ac:chgData name="秦泉寺 先生" userId="0c027005-9a2b-4620-a496-da82faf440cd" providerId="ADAL" clId="{1DFD37A9-56E6-429F-AB3D-4B71332D1A31}" dt="2026-09-08T05:42:28.650" v="336" actId="20577"/>
          <ac:spMkLst>
            <pc:docMk/>
            <pc:sldMk cId="2916201272" sldId="277"/>
            <ac:spMk id="3" creationId="{57AF3B90-7D89-153E-177F-A31021F3E7B8}"/>
          </ac:spMkLst>
        </pc:spChg>
      </pc:sldChg>
      <pc:sldChg chg="add ord">
        <pc:chgData name="秦泉寺 先生" userId="0c027005-9a2b-4620-a496-da82faf440cd" providerId="ADAL" clId="{1DFD37A9-56E6-429F-AB3D-4B71332D1A31}" dt="2026-09-08T04:28:12.942" v="2"/>
        <pc:sldMkLst>
          <pc:docMk/>
          <pc:sldMk cId="618322592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5F27FF-2D08-44E3-986B-81B14F925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230014-FD82-4EE0-840A-25D21669C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0557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3082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02309C-5D76-449E-996B-011E6904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0F6416-C041-41CE-9647-78BFEDDF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45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097493-491D-4D93-841B-F8F00D8E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A835DF8-0393-4664-8F35-147DC2F44A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8400" y="1562793"/>
            <a:ext cx="5359355" cy="450830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270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50815-D38E-4BBB-910C-7A6F33F9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D242D4-D2D4-4A37-A175-0C56DCBA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8E0B27B6-829C-43E6-B5E1-D3E738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571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3CCB8-EBA2-4413-98C9-D87307BB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D65F83B-BD0C-45CC-BABD-5271C864A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5147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65335-28D4-4C96-ADDA-73419D9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11590"/>
            <a:ext cx="2622115" cy="422291"/>
          </a:xfrm>
          <a:prstGeom prst="rect">
            <a:avLst/>
          </a:prstGeom>
        </p:spPr>
        <p:txBody>
          <a:bodyPr anchor="ctr"/>
          <a:lstStyle>
            <a:lvl1pPr algn="r">
              <a:defRPr b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fld id="{68B08B9C-01A2-4A8A-8896-9ED971C9E68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908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91CCAF-4826-46FA-9898-6013DD1F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45" y="464941"/>
            <a:ext cx="11023511" cy="852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63C595-EAF7-4A44-A5B5-A7CE2DA9C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5" y="1562793"/>
            <a:ext cx="11023511" cy="4508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5B4B7E-0CBD-B49F-05AF-5D698FD72438}"/>
              </a:ext>
            </a:extLst>
          </p:cNvPr>
          <p:cNvSpPr txBox="1"/>
          <p:nvPr userDrawn="1"/>
        </p:nvSpPr>
        <p:spPr>
          <a:xfrm>
            <a:off x="3145766" y="6288657"/>
            <a:ext cx="5900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スーパーゲームクリエーター：ゲーム設計・開発</a:t>
            </a:r>
          </a:p>
        </p:txBody>
      </p:sp>
    </p:spTree>
    <p:extLst>
      <p:ext uri="{BB962C8B-B14F-4D97-AF65-F5344CB8AC3E}">
        <p14:creationId xmlns:p14="http://schemas.microsoft.com/office/powerpoint/2010/main" val="312822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kern="1200">
          <a:solidFill>
            <a:schemeClr val="accent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kern="12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472D19-E61C-484B-8E1A-C9839547A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556" y="1122363"/>
            <a:ext cx="11288889" cy="2387600"/>
          </a:xfrm>
        </p:spPr>
        <p:txBody>
          <a:bodyPr>
            <a:normAutofit fontScale="90000"/>
          </a:bodyPr>
          <a:lstStyle/>
          <a:p>
            <a:r>
              <a:rPr lang="ja-JP" altLang="en-US">
                <a:latin typeface="HGP創英角ｺﾞｼｯｸUB"/>
                <a:ea typeface="HGP創英角ｺﾞｼｯｸUB"/>
              </a:rPr>
              <a:t>ステートマシン</a:t>
            </a:r>
            <a:br>
              <a:rPr lang="en-US" altLang="ja-JP" dirty="0">
                <a:latin typeface="HGP創英角ｺﾞｼｯｸUB"/>
                <a:ea typeface="HGP創英角ｺﾞｼｯｸUB"/>
              </a:rPr>
            </a:br>
            <a:r>
              <a:rPr lang="ja-JP" altLang="en-US">
                <a:latin typeface="HGP創英角ｺﾞｼｯｸUB"/>
                <a:ea typeface="HGP創英角ｺﾞｼｯｸUB"/>
              </a:rPr>
              <a:t>有限状態機械</a:t>
            </a:r>
            <a:br>
              <a:rPr lang="en-US" altLang="ja-JP" dirty="0">
                <a:latin typeface="HGP創英角ｺﾞｼｯｸUB"/>
                <a:ea typeface="HGP創英角ｺﾞｼｯｸUB"/>
              </a:rPr>
            </a:br>
            <a:r>
              <a:rPr lang="en-US" altLang="ja-JP" dirty="0">
                <a:latin typeface="HGP創英角ｺﾞｼｯｸUB"/>
                <a:ea typeface="HGP創英角ｺﾞｼｯｸUB"/>
              </a:rPr>
              <a:t>FSM</a:t>
            </a:r>
            <a:r>
              <a:rPr lang="ja-JP" altLang="en-US">
                <a:latin typeface="HGP創英角ｺﾞｼｯｸUB"/>
                <a:ea typeface="HGP創英角ｺﾞｼｯｸUB"/>
              </a:rPr>
              <a:t>（</a:t>
            </a:r>
            <a:r>
              <a:rPr lang="en-US" altLang="ja-JP" dirty="0">
                <a:latin typeface="HGP創英角ｺﾞｼｯｸUB"/>
                <a:ea typeface="HGP創英角ｺﾞｼｯｸUB"/>
              </a:rPr>
              <a:t>Finite State Machine</a:t>
            </a:r>
            <a:r>
              <a:rPr lang="ja-JP" altLang="en-US">
                <a:latin typeface="HGP創英角ｺﾞｼｯｸUB"/>
                <a:ea typeface="HGP創英角ｺﾞｼｯｸUB"/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8FF5A2-A843-443C-BCA9-BB5780BF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5956"/>
            <a:ext cx="9144000" cy="1351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ja-JP">
                <a:latin typeface="HGP創英角ｺﾞｼｯｸUB"/>
                <a:ea typeface="HGP創英角ｺﾞｼｯｸUB"/>
              </a:rPr>
              <a:t>2026/9/8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642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0BB65-2656-D365-BFE2-072AC8CA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/>
              <a:t>学習目標</a:t>
            </a:r>
            <a:endParaRPr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2C02EB-4BB7-1474-723E-A2ECAC39F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ja-JP" altLang="en-US" dirty="0">
                <a:latin typeface="HGP創英角ｺﾞｼｯｸUB"/>
                <a:ea typeface="HGP創英角ｺﾞｼｯｸUB"/>
              </a:rPr>
              <a:t>有限状態機械の概念を理解する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 dirty="0">
                <a:latin typeface="HGP創英角ｺﾞｼｯｸUB"/>
                <a:ea typeface="HGP創英角ｺﾞｼｯｸUB"/>
              </a:rPr>
              <a:t>状態・遷移・イベントという基本構成を押さえる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 dirty="0">
                <a:latin typeface="HGP創英角ｺﾞｼｯｸUB"/>
                <a:ea typeface="HGP創英角ｺﾞｼｯｸUB"/>
              </a:rPr>
              <a:t>ゲーム開発における利用例（キャラクター行動、</a:t>
            </a:r>
            <a:r>
              <a:rPr lang="en-US" altLang="ja-JP" dirty="0">
                <a:latin typeface="HGP創英角ｺﾞｼｯｸUB"/>
                <a:ea typeface="HGP創英角ｺﾞｼｯｸUB"/>
              </a:rPr>
              <a:t>UI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遷移、ゲーム進行管理）を理解する</a:t>
            </a:r>
          </a:p>
          <a:p>
            <a:r>
              <a:rPr lang="ja-JP" altLang="en-US" dirty="0">
                <a:latin typeface="HGP創英角ｺﾞｼｯｸUB"/>
                <a:ea typeface="HGP創英角ｺﾞｼｯｸUB"/>
              </a:rPr>
              <a:t>実装方法を学ぶ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en-US" altLang="ja-JP" dirty="0" err="1">
                <a:latin typeface="Consolas" panose="020B0609020204030204" pitchFamily="49" charset="0"/>
                <a:ea typeface="HGP創英角ｺﾞｼｯｸUB"/>
              </a:rPr>
              <a:t>enum</a:t>
            </a:r>
            <a:r>
              <a:rPr lang="en-US" altLang="ja-JP" dirty="0">
                <a:latin typeface="HGP創英角ｺﾞｼｯｸUB"/>
                <a:ea typeface="HGP創英角ｺﾞｼｯｸUB"/>
              </a:rPr>
              <a:t>/</a:t>
            </a:r>
            <a:r>
              <a:rPr lang="en-US" altLang="ja-JP" dirty="0">
                <a:latin typeface="Consolas" panose="020B0609020204030204" pitchFamily="49" charset="0"/>
                <a:ea typeface="HGP創英角ｺﾞｼｯｸUB"/>
              </a:rPr>
              <a:t>switch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を使った基本的な</a:t>
            </a:r>
            <a:r>
              <a:rPr lang="en-US" altLang="ja-JP" dirty="0">
                <a:latin typeface="HGP創英角ｺﾞｼｯｸUB"/>
                <a:ea typeface="HGP創英角ｺﾞｼｯｸUB"/>
              </a:rPr>
              <a:t>FSM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実装を理解し、自分で書けるようになる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 dirty="0">
                <a:latin typeface="HGP創英角ｺﾞｼｯｸUB"/>
                <a:ea typeface="HGP創英角ｺﾞｼｯｸUB"/>
              </a:rPr>
              <a:t>「簡単だが拡張性に難がある」という特徴を踏まえ、設計の良し悪しを考えれるようになる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r>
              <a:rPr lang="en-US" altLang="ja-JP" dirty="0">
                <a:latin typeface="HGP創英角ｺﾞｼｯｸUB"/>
                <a:ea typeface="HGP創英角ｺﾞｼｯｸUB"/>
              </a:rPr>
              <a:t>C++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の文法・機能を応用できる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en-US" altLang="ja-JP" dirty="0" err="1">
                <a:latin typeface="Consolas" panose="020B0609020204030204" pitchFamily="49" charset="0"/>
                <a:ea typeface="HGP創英角ｺﾞｼｯｸUB"/>
              </a:rPr>
              <a:t>enum</a:t>
            </a:r>
            <a:r>
              <a:rPr lang="en-US" altLang="ja-JP" dirty="0">
                <a:latin typeface="Consolas" panose="020B0609020204030204" pitchFamily="49" charset="0"/>
                <a:ea typeface="HGP創英角ｺﾞｼｯｸUB"/>
              </a:rPr>
              <a:t> class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による方安全な状態管理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 dirty="0">
                <a:latin typeface="HGP創英角ｺﾞｼｯｸUB"/>
                <a:ea typeface="HGP創英角ｺﾞｼｯｸUB"/>
              </a:rPr>
              <a:t>関数・クラス・テンプレートを用いて状態遷移を設計・実装する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en-US" altLang="ja-JP" dirty="0">
                <a:latin typeface="HGP創英角ｺﾞｼｯｸUB"/>
                <a:ea typeface="HGP創英角ｺﾞｼｯｸUB"/>
              </a:rPr>
              <a:t>STL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やメタプログラミングの基礎に繋がる視点を養う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r>
              <a:rPr lang="ja-JP" altLang="en-US" dirty="0">
                <a:latin typeface="HGP創英角ｺﾞｼｯｸUB"/>
                <a:ea typeface="HGP創英角ｺﾞｼｯｸUB"/>
              </a:rPr>
              <a:t>ゲーム制作に直結する実践力をみにつける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 dirty="0">
                <a:latin typeface="HGP創英角ｺﾞｼｯｸUB"/>
                <a:ea typeface="HGP創英角ｺﾞｼｯｸUB"/>
              </a:rPr>
              <a:t>自分のゲーム設計に</a:t>
            </a:r>
            <a:r>
              <a:rPr lang="en-US" altLang="ja-JP" dirty="0">
                <a:latin typeface="HGP創英角ｺﾞｼｯｸUB"/>
                <a:ea typeface="HGP創英角ｺﾞｼｯｸUB"/>
              </a:rPr>
              <a:t>FSM</a:t>
            </a:r>
            <a:r>
              <a:rPr lang="ja-JP" altLang="en-US" dirty="0">
                <a:latin typeface="HGP創英角ｺﾞｼｯｸUB"/>
                <a:ea typeface="HGP創英角ｺﾞｼｯｸUB"/>
              </a:rPr>
              <a:t>を組み込めるようになる</a:t>
            </a:r>
            <a:endParaRPr lang="en-US" altLang="ja-JP" dirty="0">
              <a:latin typeface="HGP創英角ｺﾞｼｯｸUB"/>
              <a:ea typeface="HGP創英角ｺﾞｼｯｸUB"/>
            </a:endParaRPr>
          </a:p>
          <a:p>
            <a:pPr lvl="1"/>
            <a:r>
              <a:rPr lang="ja-JP" altLang="en-US" dirty="0">
                <a:latin typeface="HGP創英角ｺﾞｼｯｸUB"/>
                <a:ea typeface="HGP創英角ｺﾞｼｯｸUB"/>
              </a:rPr>
              <a:t>状態管理の考え方を応用して、バトルやメニュー画面を制御できる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02EB8-4DB7-6462-1053-75D1947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60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0A48B-CE03-8347-61A1-08A94C3E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b="1">
                <a:latin typeface="HGP創英角ｺﾞｼｯｸUB"/>
                <a:ea typeface="HGP創英角ｺﾞｼｯｸUB"/>
              </a:rPr>
              <a:t>はじめに：ステートマシンとは？</a:t>
            </a:r>
            <a:endParaRPr lang="en-US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C67A8F-32F3-1C02-F451-E3C6DB36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ステートマシンとは</a:t>
            </a:r>
            <a:r>
              <a:rPr lang="ja-JP" altLang="en-US">
                <a:solidFill>
                  <a:srgbClr val="FF0000"/>
                </a:solidFill>
              </a:rPr>
              <a:t>状態</a:t>
            </a:r>
            <a:r>
              <a:rPr lang="ja-JP" altLang="en-US"/>
              <a:t>、</a:t>
            </a:r>
            <a:r>
              <a:rPr lang="ja-JP" altLang="en-US">
                <a:solidFill>
                  <a:srgbClr val="FF0000"/>
                </a:solidFill>
              </a:rPr>
              <a:t>切り替え</a:t>
            </a:r>
            <a:r>
              <a:rPr lang="ja-JP" altLang="en-US"/>
              <a:t>、</a:t>
            </a:r>
            <a:r>
              <a:rPr lang="ja-JP" altLang="en-US">
                <a:solidFill>
                  <a:srgbClr val="FF0000"/>
                </a:solidFill>
              </a:rPr>
              <a:t>きっかけ</a:t>
            </a:r>
            <a:r>
              <a:rPr lang="ja-JP" altLang="en-US"/>
              <a:t>から作られる仕組み</a:t>
            </a:r>
            <a:endParaRPr lang="en-US" altLang="ja-JP" dirty="0"/>
          </a:p>
          <a:p>
            <a:r>
              <a:rPr lang="ja-JP" altLang="en-US"/>
              <a:t>常に</a:t>
            </a:r>
            <a:r>
              <a:rPr lang="ja-JP" altLang="en-US">
                <a:solidFill>
                  <a:srgbClr val="FF0000"/>
                </a:solidFill>
              </a:rPr>
              <a:t>一つの状態</a:t>
            </a:r>
            <a:r>
              <a:rPr lang="ja-JP" altLang="en-US"/>
              <a:t>をとる</a:t>
            </a:r>
            <a:endParaRPr lang="en-US" altLang="ja-JP" dirty="0"/>
          </a:p>
          <a:p>
            <a:r>
              <a:rPr lang="ja-JP" altLang="en-US"/>
              <a:t>きっかけによって状態が変わる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1A4DEF-BD82-E1D7-08DA-C82BE2AB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3</a:t>
            </a:fld>
            <a:endParaRPr lang="ja-JP" altLang="en-US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AFFC2D86-7E63-01B8-DBAD-4FCDB285A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06" y="2171848"/>
            <a:ext cx="5021776" cy="389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1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B9E5-9614-D490-4C04-D0FAF5ED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HGPSoeiKakugothicUB"/>
                <a:ea typeface="HGPSoeiKakugothicUB"/>
              </a:rPr>
              <a:t>ゲームで利用するケース</a:t>
            </a:r>
            <a:endParaRPr lang="en-US" dirty="0">
              <a:latin typeface="HGPSoeiKakugothicUB"/>
              <a:ea typeface="HGPSoeiKakugothicUB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9032-4943-7B99-ECE6-164C1B58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キャラクターの動き（敵の行動パターン）</a:t>
            </a:r>
            <a:endParaRPr lang="en-US" altLang="ja-JP" dirty="0"/>
          </a:p>
          <a:p>
            <a:r>
              <a:rPr lang="ja-JP" altLang="en-US"/>
              <a:t>画面の管理（メニュー、ダイアログ）</a:t>
            </a:r>
            <a:endParaRPr lang="en-US" altLang="ja-JP" dirty="0"/>
          </a:p>
          <a:p>
            <a:r>
              <a:rPr lang="ja-JP" altLang="en-US"/>
              <a:t>ゲームの状態管理（タイトル画面、設定画面、インゲーム）</a:t>
            </a:r>
            <a:endParaRPr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FA03F-864F-31E1-D086-9ED39DE0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099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F47D7-D5BD-BE10-6DC9-63C39D0E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ステートマシンの基本要素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B0FCE5-18F8-1C43-7144-6E0F9390C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ステートマシンを構成する要素</a:t>
            </a:r>
            <a:endParaRPr kumimoji="1" lang="en-US" altLang="ja-JP" dirty="0"/>
          </a:p>
          <a:p>
            <a:r>
              <a:rPr lang="ja-JP" altLang="en-US" dirty="0"/>
              <a:t>状態：</a:t>
            </a:r>
            <a:r>
              <a:rPr lang="en-US" altLang="ja-JP" dirty="0"/>
              <a:t>State</a:t>
            </a:r>
          </a:p>
          <a:p>
            <a:pPr lvl="1"/>
            <a:r>
              <a:rPr kumimoji="1" lang="ja-JP" altLang="en-US" dirty="0"/>
              <a:t>システムがとる</a:t>
            </a:r>
            <a:r>
              <a:rPr kumimoji="1" lang="ja-JP" altLang="en-US" dirty="0">
                <a:solidFill>
                  <a:srgbClr val="FF0000"/>
                </a:solidFill>
              </a:rPr>
              <a:t>状況や条件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lvl="1"/>
            <a:r>
              <a:rPr kumimoji="1" lang="ja-JP" altLang="en-US" dirty="0"/>
              <a:t>例：待機、移動、攻撃、死亡</a:t>
            </a:r>
            <a:endParaRPr kumimoji="1" lang="en-US" altLang="ja-JP" dirty="0"/>
          </a:p>
          <a:p>
            <a:r>
              <a:rPr lang="ja-JP" altLang="en-US" dirty="0"/>
              <a:t>切り替え（遷移）：</a:t>
            </a:r>
            <a:r>
              <a:rPr lang="en-US" altLang="ja-JP" dirty="0"/>
              <a:t>Transition</a:t>
            </a:r>
          </a:p>
          <a:p>
            <a:pPr lvl="1"/>
            <a:r>
              <a:rPr kumimoji="1" lang="ja-JP" altLang="en-US" dirty="0"/>
              <a:t>ある状態から別の状態への</a:t>
            </a:r>
            <a:r>
              <a:rPr kumimoji="1" lang="ja-JP" altLang="en-US" dirty="0">
                <a:solidFill>
                  <a:srgbClr val="FF0000"/>
                </a:solidFill>
              </a:rPr>
              <a:t>変化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 dirty="0"/>
              <a:t>例：待機→移動、移動→攻撃</a:t>
            </a:r>
            <a:endParaRPr kumimoji="1" lang="en-US" altLang="ja-JP" dirty="0"/>
          </a:p>
          <a:p>
            <a:r>
              <a:rPr lang="ja-JP" altLang="en-US" dirty="0"/>
              <a:t>きっかけ（イベント）：</a:t>
            </a:r>
            <a:r>
              <a:rPr lang="en-US" altLang="ja-JP" dirty="0"/>
              <a:t>Event</a:t>
            </a:r>
          </a:p>
          <a:p>
            <a:pPr lvl="1"/>
            <a:r>
              <a:rPr kumimoji="1" lang="ja-JP" altLang="en-US" dirty="0"/>
              <a:t>切り替えの</a:t>
            </a:r>
            <a:r>
              <a:rPr kumimoji="1" lang="ja-JP" altLang="en-US" dirty="0">
                <a:solidFill>
                  <a:srgbClr val="FF0000"/>
                </a:solidFill>
              </a:rPr>
              <a:t>きっかけ</a:t>
            </a:r>
            <a:r>
              <a:rPr kumimoji="1" lang="ja-JP" altLang="en-US" dirty="0"/>
              <a:t>となる入力や条件</a:t>
            </a:r>
            <a:endParaRPr kumimoji="1" lang="en-US" altLang="ja-JP" dirty="0"/>
          </a:p>
          <a:p>
            <a:pPr lvl="1"/>
            <a:r>
              <a:rPr lang="ja-JP" altLang="en-US" dirty="0"/>
              <a:t>例：プレイヤー発見、攻撃ボタン押下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16AEF0-A134-86FD-69C9-56AB85B8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5</a:t>
            </a:fld>
            <a:endParaRPr lang="ja-JP" altLang="en-US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EA405208-07AC-1948-FC07-567D2048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84017"/>
            <a:ext cx="5882744" cy="358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7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7A90D5-5892-8E63-7E02-579AB5EF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ステートマシンの作り方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4F8BF3-975B-8084-FE0F-1A6F1CBF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/>
              <a:t>必要な</a:t>
            </a:r>
            <a:r>
              <a:rPr kumimoji="1" lang="ja-JP" altLang="en-US">
                <a:solidFill>
                  <a:srgbClr val="FF0000"/>
                </a:solidFill>
              </a:rPr>
              <a:t>状態を決める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状態同士の</a:t>
            </a:r>
            <a:r>
              <a:rPr lang="ja-JP" altLang="en-US">
                <a:solidFill>
                  <a:srgbClr val="FF0000"/>
                </a:solidFill>
              </a:rPr>
              <a:t>切り替え条件を決める</a:t>
            </a:r>
            <a:endParaRPr lang="en-US" altLang="ja-JP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/>
              <a:t>各状態での</a:t>
            </a:r>
            <a:r>
              <a:rPr kumimoji="1" lang="ja-JP" altLang="en-US">
                <a:solidFill>
                  <a:srgbClr val="FF0000"/>
                </a:solidFill>
              </a:rPr>
              <a:t>動きを決める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最初の状態の決める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25F80C-B8F3-B839-8C78-4D7B1FB8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6</a:t>
            </a:fld>
            <a:endParaRPr lang="ja-JP" altLang="en-US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27F023EE-0C2E-65DD-C1B2-9980F139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083" y="1201312"/>
            <a:ext cx="4977866" cy="486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4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DBC15C-A5BA-E185-7125-64AA30FA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kumimoji="1" lang="en-US" altLang="ja-JP" dirty="0"/>
              <a:t>/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kumimoji="1" lang="ja-JP" altLang="en-US"/>
              <a:t>方式の実装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4624C9-CA27-105F-59C9-16C4FB88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kumimoji="1" lang="en-US" altLang="ja-JP" dirty="0"/>
              <a:t>/</a:t>
            </a: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kumimoji="1" lang="ja-JP" altLang="en-US"/>
              <a:t>方式とは</a:t>
            </a:r>
            <a:endParaRPr kumimoji="1" lang="en-US" altLang="ja-JP" dirty="0"/>
          </a:p>
          <a:p>
            <a:pPr lvl="1"/>
            <a:r>
              <a:rPr lang="ja-JP" altLang="en-US"/>
              <a:t>列挙型（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ja-JP" altLang="en-US"/>
              <a:t>）で状態を定義</a:t>
            </a:r>
            <a:endParaRPr lang="en-US" altLang="ja-JP" dirty="0"/>
          </a:p>
          <a:p>
            <a:pPr lvl="1"/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kumimoji="1" lang="ja-JP" altLang="en-US"/>
              <a:t>文で状態ごとの処理を分ける</a:t>
            </a:r>
            <a:endParaRPr lang="en-US" altLang="ja-JP" dirty="0"/>
          </a:p>
          <a:p>
            <a:r>
              <a:rPr lang="ja-JP" altLang="en-US"/>
              <a:t>良い点</a:t>
            </a:r>
            <a:endParaRPr lang="en-US" altLang="ja-JP" dirty="0"/>
          </a:p>
          <a:p>
            <a:pPr lvl="1"/>
            <a:r>
              <a:rPr kumimoji="1" lang="ja-JP" altLang="en-US"/>
              <a:t>簡単で分かりやすい</a:t>
            </a:r>
            <a:endParaRPr kumimoji="1" lang="en-US" altLang="ja-JP" dirty="0"/>
          </a:p>
          <a:p>
            <a:pPr lvl="1"/>
            <a:r>
              <a:rPr lang="ja-JP" altLang="en-US"/>
              <a:t>作るのが楽</a:t>
            </a:r>
            <a:endParaRPr lang="en-US" altLang="ja-JP" dirty="0"/>
          </a:p>
          <a:p>
            <a:pPr lvl="1"/>
            <a:r>
              <a:rPr kumimoji="1" lang="ja-JP" altLang="en-US"/>
              <a:t>動作が軽い</a:t>
            </a:r>
            <a:endParaRPr kumimoji="1" lang="en-US" altLang="ja-JP" dirty="0"/>
          </a:p>
          <a:p>
            <a:r>
              <a:rPr lang="ja-JP" altLang="en-US"/>
              <a:t>悪い点</a:t>
            </a:r>
            <a:endParaRPr lang="en-US" altLang="ja-JP" dirty="0"/>
          </a:p>
          <a:p>
            <a:pPr lvl="1"/>
            <a:r>
              <a:rPr kumimoji="1" lang="ja-JP" altLang="en-US"/>
              <a:t>状態が増えると大きくなる</a:t>
            </a:r>
            <a:endParaRPr kumimoji="1" lang="en-US" altLang="ja-JP" dirty="0"/>
          </a:p>
          <a:p>
            <a:pPr lvl="1"/>
            <a:r>
              <a:rPr lang="ja-JP" altLang="en-US"/>
              <a:t>機能を追加しにくい</a:t>
            </a:r>
            <a:endParaRPr lang="en-US" altLang="ja-JP" dirty="0"/>
          </a:p>
          <a:p>
            <a:pPr lvl="1"/>
            <a:r>
              <a:rPr kumimoji="1" lang="ja-JP" altLang="en-US"/>
              <a:t>状態ごとに分けにくい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4CF195-9796-A326-59F5-E5044862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ACB7E9A-A2A5-EC0F-8CD1-12CCB0E8FF0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class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EnemyState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Idle,  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待機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Patrol,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巡回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Chase, 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追跡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Attack 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攻撃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Enemy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EnemyState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Update()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switch (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EnemyState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::Idle: break;  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待機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EnemyState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::Patrol: break;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巡回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EnemyState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::Chase: break; 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追跡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 </a:t>
            </a:r>
            <a:r>
              <a:rPr lang="en-US" altLang="ja-JP" sz="16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EnemyState</a:t>
            </a: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::Attack: break; // </a:t>
            </a:r>
            <a:r>
              <a:rPr lang="ja-JP" alt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攻撃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457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3F39-51AB-A649-7C5C-4FEAC5EF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実践：ゲーム進行を作成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3B90-7D89-153E-177F-A31021F3E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/>
              <a:t>ゲーム進行を作成</a:t>
            </a:r>
            <a:endParaRPr lang="en-US" altLang="ja-JP" dirty="0"/>
          </a:p>
          <a:p>
            <a:pPr lvl="1"/>
            <a:r>
              <a:rPr lang="ja-JP" altLang="en-US" dirty="0"/>
              <a:t>各画面の説明（</a:t>
            </a:r>
            <a:r>
              <a:rPr lang="ja-JP" altLang="en-US" dirty="0">
                <a:solidFill>
                  <a:srgbClr val="FF0000"/>
                </a:solidFill>
              </a:rPr>
              <a:t>状態</a:t>
            </a:r>
            <a:r>
              <a:rPr lang="ja-JP" altLang="en-US" dirty="0"/>
              <a:t>）</a:t>
            </a:r>
            <a:endParaRPr lang="en-US" altLang="ja-JP" dirty="0"/>
          </a:p>
          <a:p>
            <a:pPr lvl="2"/>
            <a:r>
              <a:rPr lang="en-US" altLang="ja-JP" dirty="0"/>
              <a:t>Startup</a:t>
            </a:r>
            <a:r>
              <a:rPr lang="ja-JP" altLang="en-US" dirty="0"/>
              <a:t>：ゲームの初期化など</a:t>
            </a:r>
            <a:endParaRPr lang="en-US" altLang="ja-JP" dirty="0"/>
          </a:p>
          <a:p>
            <a:pPr lvl="2"/>
            <a:r>
              <a:rPr lang="en-US" altLang="ja-JP" dirty="0"/>
              <a:t>Title</a:t>
            </a:r>
            <a:r>
              <a:rPr lang="ja-JP" altLang="en-US" dirty="0"/>
              <a:t>：ゲームのタイトル画面</a:t>
            </a:r>
            <a:endParaRPr lang="en-US" altLang="ja-JP" dirty="0"/>
          </a:p>
          <a:p>
            <a:pPr lvl="3"/>
            <a:r>
              <a:rPr lang="en-US" altLang="ja-JP" dirty="0"/>
              <a:t>Any Key</a:t>
            </a:r>
            <a:r>
              <a:rPr lang="ja-JP" altLang="en-US" dirty="0"/>
              <a:t>で</a:t>
            </a:r>
            <a:r>
              <a:rPr lang="en-US" altLang="ja-JP" dirty="0" err="1"/>
              <a:t>MainMenu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2"/>
            <a:r>
              <a:rPr lang="en-US" altLang="ja-JP" dirty="0" err="1"/>
              <a:t>MainMenu</a:t>
            </a:r>
            <a:r>
              <a:rPr lang="ja-JP" altLang="en-US" dirty="0"/>
              <a:t>：メニュー画面</a:t>
            </a:r>
            <a:endParaRPr lang="en-US" altLang="ja-JP" dirty="0"/>
          </a:p>
          <a:p>
            <a:pPr lvl="3"/>
            <a:r>
              <a:rPr lang="en-US" altLang="ja-JP" dirty="0"/>
              <a:t>1</a:t>
            </a:r>
            <a:r>
              <a:rPr lang="ja-JP" altLang="en-US" dirty="0"/>
              <a:t>で</a:t>
            </a:r>
            <a:r>
              <a:rPr lang="en-US" altLang="ja-JP" dirty="0" err="1"/>
              <a:t>InGame</a:t>
            </a:r>
            <a:r>
              <a:rPr lang="ja-JP" altLang="en-US" dirty="0"/>
              <a:t>に遷移、それ以外は</a:t>
            </a:r>
            <a:r>
              <a:rPr lang="en-US" altLang="ja-JP" dirty="0"/>
              <a:t>Title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2"/>
            <a:r>
              <a:rPr lang="en-US" altLang="ja-JP" dirty="0" err="1"/>
              <a:t>InGame</a:t>
            </a:r>
            <a:r>
              <a:rPr lang="ja-JP" altLang="en-US" dirty="0"/>
              <a:t>：実際のゲーム画面</a:t>
            </a:r>
            <a:endParaRPr lang="en-US" altLang="ja-JP" dirty="0"/>
          </a:p>
          <a:p>
            <a:pPr lvl="3"/>
            <a:r>
              <a:rPr lang="en-US" altLang="ja-JP" dirty="0"/>
              <a:t>Enter</a:t>
            </a:r>
            <a:r>
              <a:rPr lang="ja-JP" altLang="en-US" dirty="0"/>
              <a:t>を入力するたびにランダムで</a:t>
            </a:r>
            <a:r>
              <a:rPr lang="en-US" altLang="ja-JP" dirty="0"/>
              <a:t>1</a:t>
            </a:r>
            <a:r>
              <a:rPr lang="ja-JP" altLang="en-US" dirty="0"/>
              <a:t>～</a:t>
            </a:r>
            <a:r>
              <a:rPr lang="en-US" altLang="ja-JP" dirty="0"/>
              <a:t>10</a:t>
            </a:r>
            <a:r>
              <a:rPr lang="ja-JP" altLang="en-US" dirty="0"/>
              <a:t>までの数値を抽選して、</a:t>
            </a:r>
            <a:r>
              <a:rPr lang="en-US" altLang="ja-JP" dirty="0"/>
              <a:t>1</a:t>
            </a:r>
            <a:r>
              <a:rPr lang="ja-JP" altLang="en-US" dirty="0"/>
              <a:t>が出たら</a:t>
            </a:r>
            <a:r>
              <a:rPr lang="en-US" altLang="ja-JP" dirty="0"/>
              <a:t>Result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2"/>
            <a:r>
              <a:rPr lang="en-US" altLang="ja-JP" dirty="0"/>
              <a:t>Result</a:t>
            </a:r>
            <a:r>
              <a:rPr lang="ja-JP" altLang="en-US" dirty="0"/>
              <a:t>：</a:t>
            </a:r>
            <a:r>
              <a:rPr lang="en-US" altLang="ja-JP" dirty="0" err="1"/>
              <a:t>InGame</a:t>
            </a:r>
            <a:r>
              <a:rPr lang="ja-JP" altLang="en-US" dirty="0"/>
              <a:t>の結果画面</a:t>
            </a:r>
            <a:endParaRPr lang="en-US" altLang="ja-JP" dirty="0"/>
          </a:p>
          <a:p>
            <a:pPr lvl="3"/>
            <a:r>
              <a:rPr lang="en-US" altLang="ja-JP" dirty="0"/>
              <a:t>Any Key</a:t>
            </a:r>
            <a:r>
              <a:rPr lang="ja-JP" altLang="en-US" dirty="0"/>
              <a:t>で</a:t>
            </a:r>
            <a:r>
              <a:rPr lang="en-US" altLang="ja-JP" dirty="0" err="1"/>
              <a:t>MainMenu</a:t>
            </a:r>
            <a:r>
              <a:rPr lang="ja-JP" altLang="en-US" dirty="0"/>
              <a:t>に遷移</a:t>
            </a:r>
            <a:endParaRPr lang="en-US" altLang="ja-JP" dirty="0"/>
          </a:p>
          <a:p>
            <a:pPr lvl="1"/>
            <a:r>
              <a:rPr lang="ja-JP" altLang="en-US" dirty="0"/>
              <a:t>遷移</a:t>
            </a:r>
            <a:r>
              <a:rPr lang="ja-JP" altLang="en-US" dirty="0">
                <a:solidFill>
                  <a:srgbClr val="FF0000"/>
                </a:solidFill>
              </a:rPr>
              <a:t>条件</a:t>
            </a:r>
            <a:r>
              <a:rPr lang="ja-JP" altLang="en-US" dirty="0"/>
              <a:t>や各画面の</a:t>
            </a:r>
            <a:r>
              <a:rPr lang="ja-JP" altLang="en-US" dirty="0">
                <a:solidFill>
                  <a:srgbClr val="FF0000"/>
                </a:solidFill>
              </a:rPr>
              <a:t>動き</a:t>
            </a:r>
            <a:r>
              <a:rPr lang="ja-JP" altLang="en-US" dirty="0"/>
              <a:t>は各自で考える</a:t>
            </a:r>
            <a:endParaRPr 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2E402-5C78-BE96-2DFC-C8ABBBCC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6201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3F39-51AB-A649-7C5C-4FEAC5EF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実践：敵</a:t>
            </a:r>
            <a:r>
              <a:rPr lang="en-US" altLang="ja-JP"/>
              <a:t>AI</a:t>
            </a:r>
            <a:r>
              <a:rPr lang="ja-JP" altLang="en-US"/>
              <a:t>を作成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3B90-7D89-153E-177F-A31021F3E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altLang="ja-JP"/>
              <a:t>Idle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その場で待機し、周辺を警戒</a:t>
            </a:r>
            <a:endParaRPr lang="en-US" altLang="ja-JP"/>
          </a:p>
          <a:p>
            <a:pPr lvl="1"/>
            <a:r>
              <a:rPr lang="ja-JP" altLang="en-US"/>
              <a:t>プレイヤーを発見したら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一定時間後に</a:t>
            </a:r>
            <a:r>
              <a:rPr lang="ja-JP" altLang="en-US">
                <a:solidFill>
                  <a:schemeClr val="accent2"/>
                </a:solidFill>
              </a:rPr>
              <a:t>パトロール状態</a:t>
            </a:r>
            <a:r>
              <a:rPr lang="ja-JP" altLang="en-US"/>
              <a:t>へ</a:t>
            </a:r>
            <a:endParaRPr lang="en-US" altLang="ja-JP"/>
          </a:p>
          <a:p>
            <a:r>
              <a:rPr lang="en-US" altLang="ja-JP"/>
              <a:t>Patrol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決められた経路を巡回</a:t>
            </a:r>
            <a:endParaRPr lang="en-US" altLang="ja-JP"/>
          </a:p>
          <a:p>
            <a:pPr lvl="1"/>
            <a:r>
              <a:rPr lang="ja-JP" altLang="en-US"/>
              <a:t>プレイヤーを発見したら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各ポイントで一時停止</a:t>
            </a:r>
            <a:endParaRPr lang="en-US" altLang="ja-JP"/>
          </a:p>
          <a:p>
            <a:r>
              <a:rPr lang="en-US" altLang="ja-JP"/>
              <a:t>Chase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プレイヤーに向かって移動</a:t>
            </a:r>
            <a:endParaRPr lang="en-US" altLang="ja-JP"/>
          </a:p>
          <a:p>
            <a:pPr lvl="1"/>
            <a:r>
              <a:rPr lang="ja-JP" altLang="en-US"/>
              <a:t>攻撃範囲内に入ったら</a:t>
            </a:r>
            <a:r>
              <a:rPr lang="ja-JP" altLang="en-US">
                <a:solidFill>
                  <a:schemeClr val="accent2"/>
                </a:solidFill>
              </a:rPr>
              <a:t>攻撃状態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プレイヤーを見失ったら</a:t>
            </a:r>
            <a:r>
              <a:rPr lang="ja-JP" altLang="en-US">
                <a:solidFill>
                  <a:schemeClr val="accent2"/>
                </a:solidFill>
              </a:rPr>
              <a:t>探索状態</a:t>
            </a:r>
            <a:r>
              <a:rPr lang="ja-JP" altLang="en-US"/>
              <a:t>へ</a:t>
            </a:r>
            <a:endParaRPr lang="en-US" altLang="ja-JP"/>
          </a:p>
          <a:p>
            <a:r>
              <a:rPr lang="en-US" altLang="ja-JP"/>
              <a:t>Attack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プレイヤーに攻撃を行う</a:t>
            </a:r>
            <a:endParaRPr lang="en-US" altLang="ja-JP"/>
          </a:p>
          <a:p>
            <a:pPr lvl="1"/>
            <a:r>
              <a:rPr lang="ja-JP" altLang="en-US"/>
              <a:t>攻撃後はクールダウン</a:t>
            </a:r>
            <a:endParaRPr lang="en-US" altLang="ja-JP"/>
          </a:p>
          <a:p>
            <a:pPr lvl="1"/>
            <a:r>
              <a:rPr lang="ja-JP" altLang="en-US"/>
              <a:t>プレイヤーが範囲外なら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r>
              <a:rPr lang="en-US" altLang="ja-JP"/>
              <a:t>Search</a:t>
            </a:r>
            <a:r>
              <a:rPr lang="ja-JP" altLang="en-US"/>
              <a:t>：</a:t>
            </a:r>
            <a:endParaRPr lang="en-US" altLang="ja-JP"/>
          </a:p>
          <a:p>
            <a:pPr lvl="1"/>
            <a:r>
              <a:rPr lang="ja-JP" altLang="en-US"/>
              <a:t>最後に見た位置を探索</a:t>
            </a:r>
            <a:endParaRPr lang="en-US" altLang="ja-JP"/>
          </a:p>
          <a:p>
            <a:pPr lvl="1"/>
            <a:r>
              <a:rPr lang="ja-JP" altLang="en-US"/>
              <a:t>プレイヤーを再発見したら</a:t>
            </a:r>
            <a:r>
              <a:rPr lang="ja-JP" altLang="en-US">
                <a:solidFill>
                  <a:schemeClr val="accent2"/>
                </a:solidFill>
              </a:rPr>
              <a:t>追跡状態</a:t>
            </a:r>
            <a:r>
              <a:rPr lang="ja-JP" altLang="en-US"/>
              <a:t>へ</a:t>
            </a:r>
            <a:endParaRPr lang="en-US" altLang="ja-JP"/>
          </a:p>
          <a:p>
            <a:pPr lvl="1"/>
            <a:r>
              <a:rPr lang="ja-JP" altLang="en-US"/>
              <a:t>一定時間後に</a:t>
            </a:r>
            <a:r>
              <a:rPr lang="ja-JP" altLang="en-US">
                <a:solidFill>
                  <a:schemeClr val="accent2"/>
                </a:solidFill>
              </a:rPr>
              <a:t>パトロール状態</a:t>
            </a:r>
            <a:r>
              <a:rPr lang="ja-JP" altLang="en-US"/>
              <a:t>へ</a:t>
            </a:r>
            <a:endParaRPr lang="en-US" altLang="ja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2E402-5C78-BE96-2DFC-C8ABBBCC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08B9C-01A2-4A8A-8896-9ED971C9E681}" type="slidenum">
              <a:rPr lang="ja-JP" altLang="en-US" smtClean="0"/>
              <a:pPr/>
              <a:t>9</a:t>
            </a:fld>
            <a:endParaRPr lang="ja-JP" altLang="en-US"/>
          </a:p>
        </p:txBody>
      </p:sp>
      <p:pic>
        <p:nvPicPr>
          <p:cNvPr id="5" name="Image 9">
            <a:extLst>
              <a:ext uri="{FF2B5EF4-FFF2-40B4-BE49-F238E27FC236}">
                <a16:creationId xmlns:a16="http://schemas.microsoft.com/office/drawing/2014/main" id="{1C7F3819-D9B9-85B7-3A76-7ECB505DB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417" y="1240688"/>
            <a:ext cx="6237063" cy="549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22592"/>
      </p:ext>
    </p:extLst>
  </p:cSld>
  <p:clrMapOvr>
    <a:masterClrMapping/>
  </p:clrMapOvr>
</p:sld>
</file>

<file path=ppt/theme/theme1.xml><?xml version="1.0" encoding="utf-8"?>
<a:theme xmlns:a="http://schemas.openxmlformats.org/drawingml/2006/main" name="CLOUD CREATIVE STUDIOS, INC.">
  <a:themeElements>
    <a:clrScheme name="CLOUD CREATIVE STUDIOS, INC.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0E9"/>
      </a:accent1>
      <a:accent2>
        <a:srgbClr val="E60012"/>
      </a:accent2>
      <a:accent3>
        <a:srgbClr val="FFF1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OUD CREATIVE STUDIOS, INC.">
      <a:majorFont>
        <a:latin typeface="HGP創英角ｺﾞｼｯｸUB"/>
        <a:ea typeface="HG創英角ｺﾞｼｯｸUB"/>
        <a:cs typeface=""/>
      </a:majorFont>
      <a:minorFont>
        <a:latin typeface="HGP創英角ｺﾞｼｯｸUB"/>
        <a:ea typeface="HGS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コンストラクタの使い方" id="{B4D26422-EF22-4749-A37B-4F95BA192464}" vid="{E1CBD8AE-53C3-4965-B370-C7A6DC7FCD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27C6B184D3A5D4EAAB411F5F7E654A4" ma:contentTypeVersion="3" ma:contentTypeDescription="新しいドキュメントを作成します。" ma:contentTypeScope="" ma:versionID="ff659de2dc9403655b5250ccb9023000">
  <xsd:schema xmlns:xsd="http://www.w3.org/2001/XMLSchema" xmlns:xs="http://www.w3.org/2001/XMLSchema" xmlns:p="http://schemas.microsoft.com/office/2006/metadata/properties" xmlns:ns2="f596ef32-5378-4823-961e-50c2ffb211d9" targetNamespace="http://schemas.microsoft.com/office/2006/metadata/properties" ma:root="true" ma:fieldsID="28ab20cd041a9b24bd2fa999347f3924" ns2:_="">
    <xsd:import namespace="f596ef32-5378-4823-961e-50c2ffb211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6ef32-5378-4823-961e-50c2ffb211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F233E4-21D5-4B01-A51A-6B7D34C4CAF7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596ef32-5378-4823-961e-50c2ffb211d9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9DA9167-C75D-418C-B3EA-E987AD34FE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96ef32-5378-4823-961e-50c2ffb211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7F6E5E-30E8-4CEA-9284-2D349AD853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KDTテンプレート</Template>
  <TotalTime>1221</TotalTime>
  <Words>716</Words>
  <Application>Microsoft Office PowerPoint</Application>
  <PresentationFormat>ワイド画面</PresentationFormat>
  <Paragraphs>95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HGP創英角ｺﾞｼｯｸUB</vt:lpstr>
      <vt:lpstr>HGP創英角ｺﾞｼｯｸUB</vt:lpstr>
      <vt:lpstr>Arial</vt:lpstr>
      <vt:lpstr>Consolas</vt:lpstr>
      <vt:lpstr>CLOUD CREATIVE STUDIOS, INC.</vt:lpstr>
      <vt:lpstr>ステートマシン 有限状態機械 FSM（Finite State Machine）</vt:lpstr>
      <vt:lpstr>学習目標</vt:lpstr>
      <vt:lpstr>はじめに：ステートマシンとは？</vt:lpstr>
      <vt:lpstr>ゲームで利用するケース</vt:lpstr>
      <vt:lpstr>ステートマシンの基本要素</vt:lpstr>
      <vt:lpstr>ステートマシンの作り方</vt:lpstr>
      <vt:lpstr>enum/switch方式の実装</vt:lpstr>
      <vt:lpstr>実践：ゲーム進行を作成</vt:lpstr>
      <vt:lpstr>実践：敵AIを作成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ヒープとスタックの基礎理解</dc:title>
  <dc:creator>Akio Jinsenji</dc:creator>
  <cp:lastModifiedBy>com</cp:lastModifiedBy>
  <cp:revision>375</cp:revision>
  <dcterms:created xsi:type="dcterms:W3CDTF">2025-04-20T03:02:31Z</dcterms:created>
  <dcterms:modified xsi:type="dcterms:W3CDTF">2026-09-08T07:04:58Z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0x010100B27C6B184D3A5D4EAAB411F5F7E654A4</vt:lpwstr>
  </property>
</Properties>
</file>