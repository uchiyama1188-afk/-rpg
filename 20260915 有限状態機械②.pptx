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  <p:sldId id="285" r:id="rId8"/>
    <p:sldId id="288" r:id="rId9"/>
    <p:sldId id="291" r:id="rId10"/>
    <p:sldId id="289" r:id="rId11"/>
    <p:sldId id="292" r:id="rId12"/>
    <p:sldId id="290" r:id="rId13"/>
    <p:sldId id="277" r:id="rId14"/>
    <p:sldId id="293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6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o Jinsenji 秦泉寺 章夫" userId="988e9aa6-b528-4e7d-9003-87e4f32d5b0d" providerId="ADAL" clId="{9A1D054F-6236-4F21-9BCD-CDAFA275B7C6}"/>
    <pc:docChg chg="modSld">
      <pc:chgData name="Akio Jinsenji 秦泉寺 章夫" userId="988e9aa6-b528-4e7d-9003-87e4f32d5b0d" providerId="ADAL" clId="{9A1D054F-6236-4F21-9BCD-CDAFA275B7C6}" dt="2026-09-07T10:03:38.554" v="5" actId="20577"/>
      <pc:docMkLst>
        <pc:docMk/>
      </pc:docMkLst>
      <pc:sldChg chg="modSp mod">
        <pc:chgData name="Akio Jinsenji 秦泉寺 章夫" userId="988e9aa6-b528-4e7d-9003-87e4f32d5b0d" providerId="ADAL" clId="{9A1D054F-6236-4F21-9BCD-CDAFA275B7C6}" dt="2026-09-07T10:03:38.554" v="5" actId="20577"/>
        <pc:sldMkLst>
          <pc:docMk/>
          <pc:sldMk cId="1456421428" sldId="256"/>
        </pc:sldMkLst>
        <pc:spChg chg="mod">
          <ac:chgData name="Akio Jinsenji 秦泉寺 章夫" userId="988e9aa6-b528-4e7d-9003-87e4f32d5b0d" providerId="ADAL" clId="{9A1D054F-6236-4F21-9BCD-CDAFA275B7C6}" dt="2026-09-07T10:03:38.554" v="5" actId="20577"/>
          <ac:spMkLst>
            <pc:docMk/>
            <pc:sldMk cId="1456421428" sldId="256"/>
            <ac:spMk id="3" creationId="{738FF5A2-A843-443C-BCA9-BB5780BFCF30}"/>
          </ac:spMkLst>
        </pc:spChg>
      </pc:sldChg>
    </pc:docChg>
  </pc:docChgLst>
  <pc:docChgLst>
    <pc:chgData name="先生" userId="0c027005-9a2b-4620-a496-da82faf440cd" providerId="ADAL" clId="{773F73B0-3EF0-43F7-AFAD-AA64BD21A618}"/>
    <pc:docChg chg="custSel modSld">
      <pc:chgData name="先生" userId="0c027005-9a2b-4620-a496-da82faf440cd" providerId="ADAL" clId="{773F73B0-3EF0-43F7-AFAD-AA64BD21A618}" dt="2026-09-15T04:58:27.085" v="323" actId="27636"/>
      <pc:docMkLst>
        <pc:docMk/>
      </pc:docMkLst>
      <pc:sldChg chg="modSp mod">
        <pc:chgData name="先生" userId="0c027005-9a2b-4620-a496-da82faf440cd" providerId="ADAL" clId="{773F73B0-3EF0-43F7-AFAD-AA64BD21A618}" dt="2026-09-15T04:58:27.085" v="323" actId="27636"/>
        <pc:sldMkLst>
          <pc:docMk/>
          <pc:sldMk cId="1934572274" sldId="290"/>
        </pc:sldMkLst>
        <pc:spChg chg="mod">
          <ac:chgData name="先生" userId="0c027005-9a2b-4620-a496-da82faf440cd" providerId="ADAL" clId="{773F73B0-3EF0-43F7-AFAD-AA64BD21A618}" dt="2026-09-15T04:52:20.660" v="10" actId="20577"/>
          <ac:spMkLst>
            <pc:docMk/>
            <pc:sldMk cId="1934572274" sldId="290"/>
            <ac:spMk id="2" creationId="{9EDBC15C-A5BA-E185-7125-64AA30FA32DC}"/>
          </ac:spMkLst>
        </pc:spChg>
        <pc:spChg chg="mod">
          <ac:chgData name="先生" userId="0c027005-9a2b-4620-a496-da82faf440cd" providerId="ADAL" clId="{773F73B0-3EF0-43F7-AFAD-AA64BD21A618}" dt="2026-09-15T04:58:27.085" v="323" actId="27636"/>
          <ac:spMkLst>
            <pc:docMk/>
            <pc:sldMk cId="1934572274" sldId="290"/>
            <ac:spMk id="3" creationId="{ED4624C9-CA27-105F-59C9-16C4FB88F2CA}"/>
          </ac:spMkLst>
        </pc:spChg>
      </pc:sldChg>
    </pc:docChg>
  </pc:docChgLst>
  <pc:docChgLst>
    <pc:chgData name="秦泉寺 先生" userId="0c027005-9a2b-4620-a496-da82faf440cd" providerId="ADAL" clId="{773F73B0-3EF0-43F7-AFAD-AA64BD21A618}"/>
    <pc:docChg chg="custSel modSld">
      <pc:chgData name="秦泉寺 先生" userId="0c027005-9a2b-4620-a496-da82faf440cd" providerId="ADAL" clId="{773F73B0-3EF0-43F7-AFAD-AA64BD21A618}" dt="2026-09-08T06:45:15.461" v="18" actId="20577"/>
      <pc:docMkLst>
        <pc:docMk/>
      </pc:docMkLst>
      <pc:sldChg chg="modSp mod">
        <pc:chgData name="秦泉寺 先生" userId="0c027005-9a2b-4620-a496-da82faf440cd" providerId="ADAL" clId="{773F73B0-3EF0-43F7-AFAD-AA64BD21A618}" dt="2026-09-08T06:45:15.461" v="18" actId="20577"/>
        <pc:sldMkLst>
          <pc:docMk/>
          <pc:sldMk cId="2859145628" sldId="289"/>
        </pc:sldMkLst>
        <pc:spChg chg="mod">
          <ac:chgData name="秦泉寺 先生" userId="0c027005-9a2b-4620-a496-da82faf440cd" providerId="ADAL" clId="{773F73B0-3EF0-43F7-AFAD-AA64BD21A618}" dt="2026-09-08T06:45:15.461" v="18" actId="20577"/>
          <ac:spMkLst>
            <pc:docMk/>
            <pc:sldMk cId="2859145628" sldId="289"/>
            <ac:spMk id="3" creationId="{E44F8BF3-975B-8084-FE0F-1A6F1CBF6F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F27FF-2D08-44E3-986B-81B14F92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0014-FD82-4EE0-840A-25D21669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082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5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A835DF8-0393-4664-8F35-147DC2F44A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0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270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50815-D38E-4BBB-910C-7A6F33F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242D4-D2D4-4A37-A175-0C56DCBA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E0B27B6-829C-43E6-B5E1-D3E738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57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3CCB8-EBA2-4413-98C9-D87307BB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D65F83B-BD0C-45CC-BABD-5271C86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5147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65335-28D4-4C96-ADDA-73419D9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908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91CCAF-4826-46FA-9898-6013DD1F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45" y="464941"/>
            <a:ext cx="11023511" cy="852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3C595-EAF7-4A44-A5B5-A7CE2DA9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5" y="1562793"/>
            <a:ext cx="11023511" cy="450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5B4B7E-0CBD-B49F-05AF-5D698FD72438}"/>
              </a:ext>
            </a:extLst>
          </p:cNvPr>
          <p:cNvSpPr txBox="1"/>
          <p:nvPr userDrawn="1"/>
        </p:nvSpPr>
        <p:spPr>
          <a:xfrm>
            <a:off x="3145766" y="6288657"/>
            <a:ext cx="590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/>
              <a:t>スーパーゲームクリエーター：ゲーム設計・開発</a:t>
            </a:r>
          </a:p>
        </p:txBody>
      </p:sp>
    </p:spTree>
    <p:extLst>
      <p:ext uri="{BB962C8B-B14F-4D97-AF65-F5344CB8AC3E}">
        <p14:creationId xmlns:p14="http://schemas.microsoft.com/office/powerpoint/2010/main" val="312822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kern="1200">
          <a:solidFill>
            <a:schemeClr val="accent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72D19-E61C-484B-8E1A-C9839547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56" y="1122363"/>
            <a:ext cx="11288889" cy="2387600"/>
          </a:xfrm>
        </p:spPr>
        <p:txBody>
          <a:bodyPr>
            <a:normAutofit fontScale="90000"/>
          </a:bodyPr>
          <a:lstStyle/>
          <a:p>
            <a:r>
              <a:rPr lang="ja-JP" altLang="en-US">
                <a:latin typeface="HGP創英角ｺﾞｼｯｸUB"/>
                <a:ea typeface="HGP創英角ｺﾞｼｯｸUB"/>
              </a:rPr>
              <a:t>ステートマシン</a:t>
            </a:r>
            <a:br>
              <a:rPr lang="en-US" altLang="ja-JP">
                <a:latin typeface="HGP創英角ｺﾞｼｯｸUB"/>
                <a:ea typeface="HGP創英角ｺﾞｼｯｸUB"/>
              </a:rPr>
            </a:br>
            <a:r>
              <a:rPr lang="ja-JP" altLang="en-US">
                <a:latin typeface="HGP創英角ｺﾞｼｯｸUB"/>
                <a:ea typeface="HGP創英角ｺﾞｼｯｸUB"/>
              </a:rPr>
              <a:t>有限状態機械②</a:t>
            </a:r>
            <a:br>
              <a:rPr lang="en-US" altLang="ja-JP">
                <a:latin typeface="HGP創英角ｺﾞｼｯｸUB"/>
                <a:ea typeface="HGP創英角ｺﾞｼｯｸUB"/>
              </a:rPr>
            </a:br>
            <a:r>
              <a:rPr lang="en-US" altLang="ja-JP">
                <a:latin typeface="HGP創英角ｺﾞｼｯｸUB"/>
                <a:ea typeface="HGP創英角ｺﾞｼｯｸUB"/>
              </a:rPr>
              <a:t>FSM</a:t>
            </a:r>
            <a:r>
              <a:rPr lang="ja-JP" altLang="en-US">
                <a:latin typeface="HGP創英角ｺﾞｼｯｸUB"/>
                <a:ea typeface="HGP創英角ｺﾞｼｯｸUB"/>
              </a:rPr>
              <a:t>（</a:t>
            </a:r>
            <a:r>
              <a:rPr lang="en-US" altLang="ja-JP">
                <a:latin typeface="HGP創英角ｺﾞｼｯｸUB"/>
                <a:ea typeface="HGP創英角ｺﾞｼｯｸUB"/>
              </a:rPr>
              <a:t>Finite State Machine</a:t>
            </a:r>
            <a:r>
              <a:rPr lang="ja-JP" altLang="en-US">
                <a:latin typeface="HGP創英角ｺﾞｼｯｸUB"/>
                <a:ea typeface="HGP創英角ｺﾞｼｯｸUB"/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FF5A2-A843-443C-BCA9-BB5780BF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5956"/>
            <a:ext cx="9144000" cy="1351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ja-JP" dirty="0">
                <a:latin typeface="HGP創英角ｺﾞｼｯｸUB"/>
                <a:ea typeface="HGP創英角ｺﾞｼｯｸUB"/>
              </a:rPr>
              <a:t>2026/9/15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64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BB65-2656-D365-BFE2-072AC8CA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学習目標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C02EB-4BB7-1474-723E-A2ECAC39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ja-JP" altLang="en-US">
                <a:latin typeface="HGP創英角ｺﾞｼｯｸUB"/>
                <a:ea typeface="HGP創英角ｺﾞｼｯｸUB"/>
              </a:rPr>
              <a:t>有限状態機械の概念を理解する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>
                <a:latin typeface="HGP創英角ｺﾞｼｯｸUB"/>
                <a:ea typeface="HGP創英角ｺﾞｼｯｸUB"/>
              </a:rPr>
              <a:t>状態・遷移・イベントという基本構成を押さえる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>
                <a:latin typeface="HGP創英角ｺﾞｼｯｸUB"/>
                <a:ea typeface="HGP創英角ｺﾞｼｯｸUB"/>
              </a:rPr>
              <a:t>ゲーム開発における利用例（キャラクター行動、</a:t>
            </a:r>
            <a:r>
              <a:rPr lang="en-US" altLang="ja-JP">
                <a:latin typeface="HGP創英角ｺﾞｼｯｸUB"/>
                <a:ea typeface="HGP創英角ｺﾞｼｯｸUB"/>
              </a:rPr>
              <a:t>UI</a:t>
            </a:r>
            <a:r>
              <a:rPr lang="ja-JP" altLang="en-US">
                <a:latin typeface="HGP創英角ｺﾞｼｯｸUB"/>
                <a:ea typeface="HGP創英角ｺﾞｼｯｸUB"/>
              </a:rPr>
              <a:t>遷移、ゲーム進行管理）を理解する</a:t>
            </a:r>
          </a:p>
          <a:p>
            <a:r>
              <a:rPr lang="ja-JP" altLang="en-US">
                <a:latin typeface="HGP創英角ｺﾞｼｯｸUB"/>
                <a:ea typeface="HGP創英角ｺﾞｼｯｸUB"/>
              </a:rPr>
              <a:t>実装方法を学ぶ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en-US" altLang="ja-JP" err="1">
                <a:latin typeface="Consolas" panose="020B0609020204030204" pitchFamily="49" charset="0"/>
                <a:ea typeface="HGP創英角ｺﾞｼｯｸUB"/>
              </a:rPr>
              <a:t>enum</a:t>
            </a:r>
            <a:r>
              <a:rPr lang="en-US" altLang="ja-JP">
                <a:latin typeface="HGP創英角ｺﾞｼｯｸUB"/>
                <a:ea typeface="HGP創英角ｺﾞｼｯｸUB"/>
              </a:rPr>
              <a:t>/</a:t>
            </a:r>
            <a:r>
              <a:rPr lang="en-US" altLang="ja-JP">
                <a:latin typeface="Consolas" panose="020B0609020204030204" pitchFamily="49" charset="0"/>
                <a:ea typeface="HGP創英角ｺﾞｼｯｸUB"/>
              </a:rPr>
              <a:t>switch</a:t>
            </a:r>
            <a:r>
              <a:rPr lang="ja-JP" altLang="en-US">
                <a:latin typeface="HGP創英角ｺﾞｼｯｸUB"/>
                <a:ea typeface="HGP創英角ｺﾞｼｯｸUB"/>
              </a:rPr>
              <a:t>を使った基本的な</a:t>
            </a:r>
            <a:r>
              <a:rPr lang="en-US" altLang="ja-JP">
                <a:latin typeface="HGP創英角ｺﾞｼｯｸUB"/>
                <a:ea typeface="HGP創英角ｺﾞｼｯｸUB"/>
              </a:rPr>
              <a:t>FSM</a:t>
            </a:r>
            <a:r>
              <a:rPr lang="ja-JP" altLang="en-US">
                <a:latin typeface="HGP創英角ｺﾞｼｯｸUB"/>
                <a:ea typeface="HGP創英角ｺﾞｼｯｸUB"/>
              </a:rPr>
              <a:t>実装を理解し、自分で書けるようになる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>
                <a:latin typeface="HGP創英角ｺﾞｼｯｸUB"/>
                <a:ea typeface="HGP創英角ｺﾞｼｯｸUB"/>
              </a:rPr>
              <a:t>「簡単だが拡張性に難がある」という特徴を踏まえ、設計の良し悪しを考えれるようになる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r>
              <a:rPr lang="en-US" altLang="ja-JP">
                <a:latin typeface="HGP創英角ｺﾞｼｯｸUB"/>
                <a:ea typeface="HGP創英角ｺﾞｼｯｸUB"/>
              </a:rPr>
              <a:t>C++</a:t>
            </a:r>
            <a:r>
              <a:rPr lang="ja-JP" altLang="en-US">
                <a:latin typeface="HGP創英角ｺﾞｼｯｸUB"/>
                <a:ea typeface="HGP創英角ｺﾞｼｯｸUB"/>
              </a:rPr>
              <a:t>の文法・機能を応用できる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en-US" altLang="ja-JP" err="1">
                <a:latin typeface="Consolas" panose="020B0609020204030204" pitchFamily="49" charset="0"/>
                <a:ea typeface="HGP創英角ｺﾞｼｯｸUB"/>
              </a:rPr>
              <a:t>enum</a:t>
            </a:r>
            <a:r>
              <a:rPr lang="en-US" altLang="ja-JP">
                <a:latin typeface="Consolas" panose="020B0609020204030204" pitchFamily="49" charset="0"/>
                <a:ea typeface="HGP創英角ｺﾞｼｯｸUB"/>
              </a:rPr>
              <a:t> class</a:t>
            </a:r>
            <a:r>
              <a:rPr lang="ja-JP" altLang="en-US">
                <a:latin typeface="HGP創英角ｺﾞｼｯｸUB"/>
                <a:ea typeface="HGP創英角ｺﾞｼｯｸUB"/>
              </a:rPr>
              <a:t>による方安全な状態管理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>
                <a:latin typeface="HGP創英角ｺﾞｼｯｸUB"/>
                <a:ea typeface="HGP創英角ｺﾞｼｯｸUB"/>
              </a:rPr>
              <a:t>関数・クラス・テンプレートを用いて状態遷移を設計・実装する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en-US" altLang="ja-JP">
                <a:latin typeface="HGP創英角ｺﾞｼｯｸUB"/>
                <a:ea typeface="HGP創英角ｺﾞｼｯｸUB"/>
              </a:rPr>
              <a:t>STL</a:t>
            </a:r>
            <a:r>
              <a:rPr lang="ja-JP" altLang="en-US">
                <a:latin typeface="HGP創英角ｺﾞｼｯｸUB"/>
                <a:ea typeface="HGP創英角ｺﾞｼｯｸUB"/>
              </a:rPr>
              <a:t>やメタプログラミングの基礎に繋がる視点を養う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r>
              <a:rPr lang="ja-JP" altLang="en-US">
                <a:latin typeface="HGP創英角ｺﾞｼｯｸUB"/>
                <a:ea typeface="HGP創英角ｺﾞｼｯｸUB"/>
              </a:rPr>
              <a:t>ゲーム制作に直結する実践力をみにつける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>
                <a:latin typeface="HGP創英角ｺﾞｼｯｸUB"/>
                <a:ea typeface="HGP創英角ｺﾞｼｯｸUB"/>
              </a:rPr>
              <a:t>自分のゲーム設計に</a:t>
            </a:r>
            <a:r>
              <a:rPr lang="en-US" altLang="ja-JP">
                <a:latin typeface="HGP創英角ｺﾞｼｯｸUB"/>
                <a:ea typeface="HGP創英角ｺﾞｼｯｸUB"/>
              </a:rPr>
              <a:t>FSM</a:t>
            </a:r>
            <a:r>
              <a:rPr lang="ja-JP" altLang="en-US">
                <a:latin typeface="HGP創英角ｺﾞｼｯｸUB"/>
                <a:ea typeface="HGP創英角ｺﾞｼｯｸUB"/>
              </a:rPr>
              <a:t>を組み込めるようになる</a:t>
            </a:r>
            <a:endParaRPr lang="en-US" altLang="ja-JP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>
                <a:latin typeface="HGP創英角ｺﾞｼｯｸUB"/>
                <a:ea typeface="HGP創英角ｺﾞｼｯｸUB"/>
              </a:rPr>
              <a:t>状態管理の考え方を応用して、バトルやメニュー画面を制御できる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02EB8-4DB7-6462-1053-75D1947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60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A48B-CE03-8347-61A1-08A94C3E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前回の復習と</a:t>
            </a:r>
            <a:r>
              <a:rPr lang="en-US" altLang="ja-JP"/>
              <a:t>State</a:t>
            </a:r>
            <a:r>
              <a:rPr lang="ja-JP" altLang="en-US"/>
              <a:t>パターンの導入</a:t>
            </a:r>
            <a:endParaRPr lang="en-US" altLang="ja-JP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67A8F-32F3-1C02-F451-E3C6DB36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前回学習：</a:t>
            </a:r>
            <a:r>
              <a:rPr lang="en-US" altLang="ja-JP" err="1">
                <a:latin typeface="Consolas" panose="020B0609020204030204" pitchFamily="49" charset="0"/>
              </a:rPr>
              <a:t>enum</a:t>
            </a:r>
            <a:r>
              <a:rPr lang="en-US" altLang="ja-JP">
                <a:latin typeface="Consolas" panose="020B0609020204030204" pitchFamily="49" charset="0"/>
              </a:rPr>
              <a:t>/switch</a:t>
            </a:r>
            <a:r>
              <a:rPr lang="ja-JP" altLang="en-US"/>
              <a:t>方式の</a:t>
            </a:r>
            <a:r>
              <a:rPr lang="en-US" altLang="ja-JP"/>
              <a:t>FSM</a:t>
            </a:r>
          </a:p>
          <a:p>
            <a:pPr lvl="1"/>
            <a:r>
              <a:rPr lang="ja-JP" altLang="en-US"/>
              <a:t>シンプルで分かりやすい基本的な実装方法</a:t>
            </a:r>
            <a:endParaRPr lang="en-US" altLang="ja-JP"/>
          </a:p>
          <a:p>
            <a:r>
              <a:rPr lang="ja-JP" altLang="en-US"/>
              <a:t>今回学習：</a:t>
            </a:r>
            <a:r>
              <a:rPr lang="en-US" altLang="ja-JP"/>
              <a:t>State</a:t>
            </a:r>
            <a:r>
              <a:rPr lang="ja-JP" altLang="en-US"/>
              <a:t>パターン</a:t>
            </a:r>
            <a:endParaRPr lang="en-US" altLang="ja-JP"/>
          </a:p>
          <a:p>
            <a:pPr lvl="1"/>
            <a:r>
              <a:rPr lang="ja-JP" altLang="en-US"/>
              <a:t>より柔軟で拡張しやすいシステムへ！</a:t>
            </a:r>
            <a:endParaRPr lang="en-US" altLang="ja-JP"/>
          </a:p>
          <a:p>
            <a:r>
              <a:rPr lang="ja-JP" altLang="en-US"/>
              <a:t>オブジェクト指向の設計パターンを活用した、ゲーム進行管理と敵</a:t>
            </a:r>
            <a:r>
              <a:rPr lang="en-US" altLang="ja-JP"/>
              <a:t>AI</a:t>
            </a:r>
            <a:r>
              <a:rPr lang="ja-JP" altLang="en-US"/>
              <a:t>システムの実装</a:t>
            </a:r>
            <a:endParaRPr lang="en-US" alt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1A4DEF-BD82-E1D7-08DA-C82BE2A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5511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B9E5-9614-D490-4C04-D0FAF5ED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onsolas" panose="020B0609020204030204" pitchFamily="49" charset="0"/>
                <a:ea typeface="HGPSoeiKakugothicUB"/>
              </a:rPr>
              <a:t>enum</a:t>
            </a:r>
            <a:r>
              <a:rPr lang="en-US">
                <a:latin typeface="Consolas" panose="020B0609020204030204" pitchFamily="49" charset="0"/>
                <a:ea typeface="HGPSoeiKakugothicUB"/>
              </a:rPr>
              <a:t>/switch</a:t>
            </a:r>
            <a:r>
              <a:rPr lang="ja-JP" altLang="en-US">
                <a:latin typeface="HGPSoeiKakugothicUB"/>
                <a:ea typeface="HGPSoeiKakugothicUB"/>
              </a:rPr>
              <a:t>方式と</a:t>
            </a:r>
            <a:r>
              <a:rPr lang="en-US" altLang="ja-JP">
                <a:latin typeface="HGPSoeiKakugothicUB"/>
                <a:ea typeface="HGPSoeiKakugothicUB"/>
              </a:rPr>
              <a:t>State</a:t>
            </a:r>
            <a:r>
              <a:rPr lang="ja-JP" altLang="en-US">
                <a:latin typeface="HGPSoeiKakugothicUB"/>
                <a:ea typeface="HGPSoeiKakugothicUB"/>
              </a:rPr>
              <a:t>パターンの比較</a:t>
            </a:r>
            <a:endParaRPr lang="en-US">
              <a:latin typeface="HGPSoeiKakugothicUB"/>
              <a:ea typeface="HGPSoeiKakugothicUB"/>
            </a:endParaRPr>
          </a:p>
        </p:txBody>
      </p:sp>
      <p:sp>
        <p:nvSpPr>
          <p:cNvPr id="26" name="コンテンツ プレースホルダー 25">
            <a:extLst>
              <a:ext uri="{FF2B5EF4-FFF2-40B4-BE49-F238E27FC236}">
                <a16:creationId xmlns:a16="http://schemas.microsoft.com/office/drawing/2014/main" id="{DA0973EC-76A4-E709-9347-C290D19DE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err="1">
                <a:latin typeface="Consolas" panose="020B0609020204030204" pitchFamily="49" charset="0"/>
              </a:rPr>
              <a:t>enum</a:t>
            </a:r>
            <a:r>
              <a:rPr lang="en-US" altLang="ja-JP">
                <a:latin typeface="Consolas" panose="020B0609020204030204" pitchFamily="49" charset="0"/>
              </a:rPr>
              <a:t>/switch</a:t>
            </a:r>
            <a:r>
              <a:rPr lang="ja-JP" altLang="en-US"/>
              <a:t>方式</a:t>
            </a:r>
            <a:endParaRPr lang="en-US" altLang="ja-JP"/>
          </a:p>
          <a:p>
            <a:r>
              <a:rPr lang="ja-JP" altLang="en-US"/>
              <a:t>良い点</a:t>
            </a:r>
            <a:endParaRPr lang="en-US" altLang="ja-JP"/>
          </a:p>
          <a:p>
            <a:pPr lvl="1"/>
            <a:r>
              <a:rPr lang="ja-JP" altLang="en-US"/>
              <a:t>実装が簡単</a:t>
            </a:r>
            <a:endParaRPr lang="en-US" altLang="ja-JP"/>
          </a:p>
          <a:p>
            <a:pPr lvl="1"/>
            <a:r>
              <a:rPr lang="ja-JP" altLang="en-US"/>
              <a:t>実行速度が速い</a:t>
            </a:r>
            <a:endParaRPr lang="en-US" altLang="ja-JP"/>
          </a:p>
          <a:p>
            <a:pPr lvl="1"/>
            <a:r>
              <a:rPr lang="ja-JP" altLang="en-US"/>
              <a:t>メモリ使用量が少ない</a:t>
            </a:r>
            <a:endParaRPr lang="en-US" altLang="ja-JP"/>
          </a:p>
          <a:p>
            <a:r>
              <a:rPr lang="ja-JP" altLang="en-US"/>
              <a:t>悪い点</a:t>
            </a:r>
            <a:endParaRPr lang="en-US" altLang="ja-JP"/>
          </a:p>
          <a:p>
            <a:pPr lvl="1"/>
            <a:r>
              <a:rPr lang="ja-JP" altLang="en-US"/>
              <a:t>状態が増えると複雑化</a:t>
            </a:r>
            <a:endParaRPr lang="en-US" altLang="ja-JP"/>
          </a:p>
          <a:p>
            <a:pPr lvl="1"/>
            <a:r>
              <a:rPr lang="ja-JP" altLang="en-US"/>
              <a:t>拡張性が低い</a:t>
            </a:r>
            <a:endParaRPr lang="en-US" altLang="ja-JP"/>
          </a:p>
          <a:p>
            <a:r>
              <a:rPr lang="ja-JP" altLang="en-US"/>
              <a:t>シンプルなシステム向け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FA03F-864F-31E1-D086-9ED39DE0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7" name="コンテンツ プレースホルダー 26">
            <a:extLst>
              <a:ext uri="{FF2B5EF4-FFF2-40B4-BE49-F238E27FC236}">
                <a16:creationId xmlns:a16="http://schemas.microsoft.com/office/drawing/2014/main" id="{229958F0-87CD-523E-E84E-4855367F77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/>
              <a:t>State</a:t>
            </a:r>
            <a:r>
              <a:rPr lang="ja-JP" altLang="en-US"/>
              <a:t>パターン</a:t>
            </a:r>
            <a:endParaRPr lang="en-US" altLang="ja-JP"/>
          </a:p>
          <a:p>
            <a:r>
              <a:rPr lang="ja-JP" altLang="en-US"/>
              <a:t>良い点</a:t>
            </a:r>
            <a:endParaRPr lang="en-US" altLang="ja-JP"/>
          </a:p>
          <a:p>
            <a:pPr lvl="1"/>
            <a:r>
              <a:rPr lang="ja-JP" altLang="en-US"/>
              <a:t>状態ごとに処理が分離</a:t>
            </a:r>
            <a:endParaRPr lang="en-US" altLang="ja-JP"/>
          </a:p>
          <a:p>
            <a:pPr lvl="1"/>
            <a:r>
              <a:rPr lang="ja-JP" altLang="en-US"/>
              <a:t>新しい状態の追加が簡単</a:t>
            </a:r>
            <a:endParaRPr lang="en-US" altLang="ja-JP"/>
          </a:p>
          <a:p>
            <a:pPr lvl="1"/>
            <a:r>
              <a:rPr lang="ja-JP" altLang="en-US"/>
              <a:t>状態固有のデータを持てる</a:t>
            </a:r>
            <a:endParaRPr lang="en-US" altLang="ja-JP"/>
          </a:p>
          <a:p>
            <a:r>
              <a:rPr lang="ja-JP" altLang="en-US"/>
              <a:t>悪い点</a:t>
            </a:r>
            <a:endParaRPr lang="en-US" altLang="ja-JP"/>
          </a:p>
          <a:p>
            <a:pPr lvl="1"/>
            <a:r>
              <a:rPr lang="ja-JP" altLang="en-US"/>
              <a:t>クラス数が増える</a:t>
            </a:r>
            <a:endParaRPr lang="en-US" altLang="ja-JP"/>
          </a:p>
          <a:p>
            <a:pPr lvl="1"/>
            <a:r>
              <a:rPr lang="ja-JP" altLang="en-US"/>
              <a:t>設計がやや複雑</a:t>
            </a:r>
            <a:endParaRPr lang="en-US" altLang="ja-JP"/>
          </a:p>
          <a:p>
            <a:r>
              <a:rPr lang="ja-JP" altLang="en-US"/>
              <a:t>複雑なシステム向け</a:t>
            </a:r>
          </a:p>
        </p:txBody>
      </p:sp>
    </p:spTree>
    <p:extLst>
      <p:ext uri="{BB962C8B-B14F-4D97-AF65-F5344CB8AC3E}">
        <p14:creationId xmlns:p14="http://schemas.microsoft.com/office/powerpoint/2010/main" val="87099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F47D7-D5BD-BE10-6DC9-63C39D0E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ゲーム進行の</a:t>
            </a:r>
            <a:r>
              <a:rPr kumimoji="1" lang="en-US" altLang="ja-JP"/>
              <a:t>State</a:t>
            </a:r>
            <a:r>
              <a:rPr kumimoji="1" lang="ja-JP" altLang="en-US"/>
              <a:t>パターン設計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B0FCE5-18F8-1C43-7144-6E0F9390C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基底となる状態クラスを作成する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共通となるメソッドを定義する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各ゲーム状態のクラスを作成する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16AEF0-A134-86FD-69C9-56AB85B8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2777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2BF7-DD52-956C-B5F5-ED1E1178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3F1A3-B56F-B53E-B095-3EAA7570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コード実装例</a:t>
            </a:r>
            <a:r>
              <a:rPr kumimoji="1" lang="en-US" altLang="ja-JP"/>
              <a:t>(</a:t>
            </a:r>
            <a:r>
              <a:rPr kumimoji="1" lang="en-US" altLang="ja-JP" err="1"/>
              <a:t>GameState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3703A2-7305-515F-0081-840A2F5BE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kumimoji="1" lang="ja-JP" altLang="en-US" sz="1800">
                <a:solidFill>
                  <a:schemeClr val="tx1"/>
                </a:solidFill>
                <a:latin typeface="Consolas" panose="020B0609020204030204" pitchFamily="49" charset="0"/>
              </a:rPr>
              <a:t>状態基底クラス</a:t>
            </a:r>
            <a:br>
              <a:rPr kumimoji="1"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kumimoji="1"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kumimoji="1"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GameState</a:t>
            </a:r>
            <a:r>
              <a:rPr kumimoji="1"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kumimoji="1"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 virtual ~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GameState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() = default;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 virtual void 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OnEnter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* manager) = 0;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ja-JP" altLang="en-US" sz="180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virtual</a:t>
            </a:r>
            <a:r>
              <a:rPr lang="ja-JP" altLang="en-US" sz="18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void</a:t>
            </a:r>
            <a:r>
              <a:rPr lang="ja-JP" altLang="en-US" sz="18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OnUpdate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ja-JP" altLang="en-US" sz="18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ja-JP" altLang="en-US" sz="18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manager, float 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deltaTime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) = 0;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 virtual void 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OnExit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* manager) = 0;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  virtual const std::string </a:t>
            </a:r>
            <a:r>
              <a:rPr lang="en-US" altLang="ja-JP" sz="1800" err="1">
                <a:solidFill>
                  <a:schemeClr val="tx1"/>
                </a:solidFill>
                <a:latin typeface="Consolas" panose="020B0609020204030204" pitchFamily="49" charset="0"/>
              </a:rPr>
              <a:t>GetName</a:t>
            </a: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() const = 0;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br>
              <a:rPr lang="en-US" altLang="ja-JP" sz="180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altLang="ja-JP" sz="1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29C55E-A73F-6F24-5C59-78734A44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7722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7A90D5-5892-8E63-7E02-579AB5EF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コード実装例</a:t>
            </a:r>
            <a:r>
              <a:rPr kumimoji="1" lang="en-US" altLang="ja-JP"/>
              <a:t>(</a:t>
            </a:r>
            <a:r>
              <a:rPr kumimoji="1" lang="en-US" altLang="ja-JP" err="1"/>
              <a:t>GameManager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4F8BF3-975B-8084-FE0F-1A6F1CBF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ゲーム管理クラス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&gt;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bool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isRunning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float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gameTime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() :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isRunning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(true),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gameTime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(0.0f) {}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void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ChangeState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unique_ptr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&gt;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OnExit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(this);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= std::move(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OnEnter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(this);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void Update(float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deltaTime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gametime +=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deltaTime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-&gt;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OnUpdate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(this,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deltaTime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25F80C-B8F3-B839-8C78-4D7B1FB8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5914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98B26-713B-EF8F-70FD-1EFB67A0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49267C-4E97-C06C-D50F-FF460843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コード実装例</a:t>
            </a:r>
            <a:r>
              <a:rPr kumimoji="1" lang="en-US" altLang="ja-JP"/>
              <a:t>(</a:t>
            </a:r>
            <a:r>
              <a:rPr kumimoji="1" lang="en-US" altLang="ja-JP" err="1"/>
              <a:t>TitleState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2AA7DE-31F0-EE02-4E76-3507665E0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タイトル画面状態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class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TitleState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: public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void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OnEnter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* manager)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cout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&lt;&lt; “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タイトル画面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” &lt;&lt; 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endl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void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OnUpdate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manager, float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deltaTime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(…)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  manager-&gt;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ChangeState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make_unique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MainMenuState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&gt;());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void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OnExit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GameManager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* manager)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  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cout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&lt;&lt; “</a:t>
            </a:r>
            <a:r>
              <a:rPr lang="ja-JP" alt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タイトル画面を終了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” &lt;&lt; std::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endl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  const std::string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GetName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() const { return “Title”;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altLang="ja-JP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BD3545-1AB0-2A03-DE30-EF2DAB06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077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DBC15C-A5BA-E185-7125-64AA30FA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実践：ゲーム状態の遷移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4624C9-CA27-105F-59C9-16C4FB88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画面遷移を作成</a:t>
            </a:r>
            <a:endParaRPr kumimoji="1" lang="en-US" altLang="ja-JP" dirty="0"/>
          </a:p>
          <a:p>
            <a:pPr lvl="1"/>
            <a:r>
              <a:rPr lang="en-US" altLang="ja-JP" dirty="0"/>
              <a:t>Startup</a:t>
            </a:r>
            <a:r>
              <a:rPr lang="ja-JP" altLang="en-US" dirty="0"/>
              <a:t>：ゲームの初期化など</a:t>
            </a:r>
            <a:endParaRPr lang="en-US" altLang="ja-JP" dirty="0"/>
          </a:p>
          <a:p>
            <a:pPr lvl="1"/>
            <a:r>
              <a:rPr lang="en-US" altLang="ja-JP" dirty="0"/>
              <a:t>Title</a:t>
            </a:r>
            <a:r>
              <a:rPr lang="ja-JP" altLang="en-US" dirty="0"/>
              <a:t>：ゲームのタイトル画面</a:t>
            </a:r>
            <a:endParaRPr lang="en-US" altLang="ja-JP" dirty="0"/>
          </a:p>
          <a:p>
            <a:pPr lvl="2"/>
            <a:r>
              <a:rPr lang="en-US" altLang="ja-JP" dirty="0"/>
              <a:t>Any Key</a:t>
            </a:r>
            <a:r>
              <a:rPr lang="ja-JP" altLang="en-US" dirty="0"/>
              <a:t>で</a:t>
            </a:r>
            <a:r>
              <a:rPr lang="en-US" altLang="ja-JP" dirty="0" err="1"/>
              <a:t>MainMenu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1"/>
            <a:r>
              <a:rPr lang="en-US" altLang="ja-JP" dirty="0" err="1"/>
              <a:t>MainMenu</a:t>
            </a:r>
            <a:r>
              <a:rPr lang="ja-JP" altLang="en-US" dirty="0"/>
              <a:t>：メニュー画面</a:t>
            </a:r>
            <a:endParaRPr lang="en-US" altLang="ja-JP" dirty="0"/>
          </a:p>
          <a:p>
            <a:pPr lvl="2"/>
            <a:r>
              <a:rPr lang="en-US" altLang="ja-JP" dirty="0"/>
              <a:t>1</a:t>
            </a:r>
            <a:r>
              <a:rPr lang="ja-JP" altLang="en-US" dirty="0"/>
              <a:t>で</a:t>
            </a:r>
            <a:r>
              <a:rPr lang="en-US" altLang="ja-JP" dirty="0" err="1"/>
              <a:t>InGame</a:t>
            </a:r>
            <a:r>
              <a:rPr lang="ja-JP" altLang="en-US" dirty="0"/>
              <a:t>に遷移、それ以外は</a:t>
            </a:r>
            <a:r>
              <a:rPr lang="en-US" altLang="ja-JP" dirty="0"/>
              <a:t>Title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1"/>
            <a:r>
              <a:rPr lang="en-US" altLang="ja-JP" dirty="0" err="1"/>
              <a:t>InGame</a:t>
            </a:r>
            <a:r>
              <a:rPr lang="ja-JP" altLang="en-US" dirty="0"/>
              <a:t>：実際のゲーム画面</a:t>
            </a:r>
            <a:endParaRPr lang="en-US" altLang="ja-JP" dirty="0"/>
          </a:p>
          <a:p>
            <a:pPr lvl="2"/>
            <a:r>
              <a:rPr lang="en-US" altLang="ja-JP" dirty="0"/>
              <a:t>Enter</a:t>
            </a:r>
            <a:r>
              <a:rPr lang="ja-JP" altLang="en-US" dirty="0"/>
              <a:t>を入力するたびにランダムで</a:t>
            </a:r>
            <a:r>
              <a:rPr lang="en-US" altLang="ja-JP" dirty="0"/>
              <a:t>1</a:t>
            </a:r>
            <a:r>
              <a:rPr lang="ja-JP" altLang="en-US" dirty="0"/>
              <a:t>～</a:t>
            </a:r>
            <a:r>
              <a:rPr lang="en-US" altLang="ja-JP" dirty="0"/>
              <a:t>10</a:t>
            </a:r>
            <a:r>
              <a:rPr lang="ja-JP" altLang="en-US" dirty="0"/>
              <a:t>までの数値を抽選して、</a:t>
            </a:r>
            <a:r>
              <a:rPr lang="en-US" altLang="ja-JP" dirty="0"/>
              <a:t>1</a:t>
            </a:r>
            <a:r>
              <a:rPr lang="ja-JP" altLang="en-US" dirty="0"/>
              <a:t>が出たら</a:t>
            </a:r>
            <a:r>
              <a:rPr lang="en-US" altLang="ja-JP" dirty="0"/>
              <a:t>Result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1"/>
            <a:r>
              <a:rPr lang="en-US" altLang="ja-JP" dirty="0"/>
              <a:t>Result</a:t>
            </a:r>
            <a:r>
              <a:rPr lang="ja-JP" altLang="en-US" dirty="0"/>
              <a:t>：</a:t>
            </a:r>
            <a:r>
              <a:rPr lang="en-US" altLang="ja-JP" dirty="0" err="1"/>
              <a:t>InGame</a:t>
            </a:r>
            <a:r>
              <a:rPr lang="ja-JP" altLang="en-US" dirty="0"/>
              <a:t>の結果画面</a:t>
            </a:r>
            <a:endParaRPr lang="en-US" altLang="ja-JP" dirty="0"/>
          </a:p>
          <a:p>
            <a:pPr lvl="2"/>
            <a:r>
              <a:rPr lang="en-US" altLang="ja-JP" dirty="0"/>
              <a:t>Any Key</a:t>
            </a:r>
            <a:r>
              <a:rPr lang="ja-JP" altLang="en-US" dirty="0"/>
              <a:t>で</a:t>
            </a:r>
            <a:r>
              <a:rPr lang="en-US" altLang="ja-JP" dirty="0" err="1"/>
              <a:t>MainMenu</a:t>
            </a:r>
            <a:r>
              <a:rPr lang="ja-JP" altLang="en-US" dirty="0"/>
              <a:t>に遷移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err="1">
                <a:solidFill>
                  <a:schemeClr val="accent1"/>
                </a:solidFill>
              </a:rPr>
              <a:t>GameManager</a:t>
            </a:r>
            <a:r>
              <a:rPr lang="ja-JP" altLang="en-US" dirty="0">
                <a:solidFill>
                  <a:schemeClr val="accent1"/>
                </a:solidFill>
              </a:rPr>
              <a:t>が持つゲーム状態の初期値をコンストラクタで初期化するようにする</a:t>
            </a:r>
            <a:endParaRPr lang="en-US" altLang="ja-JP" dirty="0">
              <a:solidFill>
                <a:schemeClr val="accent1"/>
              </a:solidFill>
            </a:endParaRPr>
          </a:p>
          <a:p>
            <a:pPr lvl="1"/>
            <a:r>
              <a:rPr kumimoji="1" lang="ja-JP" altLang="en-US" dirty="0">
                <a:solidFill>
                  <a:schemeClr val="tx1"/>
                </a:solidFill>
              </a:rPr>
              <a:t>それに合わせて不要なコードも削除する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4CF195-9796-A326-59F5-E5044862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457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3F39-51AB-A649-7C5C-4FEAC5EF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実践：敵</a:t>
            </a:r>
            <a:r>
              <a:rPr lang="en-US" altLang="ja-JP"/>
              <a:t>AI</a:t>
            </a:r>
            <a:r>
              <a:rPr lang="ja-JP" altLang="en-US"/>
              <a:t>を作成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3B90-7D89-153E-177F-A31021F3E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altLang="ja-JP"/>
              <a:t>Idle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その場で待機し、周辺を警戒</a:t>
            </a:r>
            <a:endParaRPr lang="en-US" altLang="ja-JP"/>
          </a:p>
          <a:p>
            <a:pPr lvl="1"/>
            <a:r>
              <a:rPr lang="ja-JP" altLang="en-US"/>
              <a:t>プレイヤーを発見したら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一定時間後に</a:t>
            </a:r>
            <a:r>
              <a:rPr lang="ja-JP" altLang="en-US">
                <a:solidFill>
                  <a:schemeClr val="accent2"/>
                </a:solidFill>
              </a:rPr>
              <a:t>パトロール状態</a:t>
            </a:r>
            <a:r>
              <a:rPr lang="ja-JP" altLang="en-US"/>
              <a:t>へ</a:t>
            </a:r>
            <a:endParaRPr lang="en-US" altLang="ja-JP"/>
          </a:p>
          <a:p>
            <a:r>
              <a:rPr lang="en-US" altLang="ja-JP"/>
              <a:t>Patrol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決められた経路を巡回</a:t>
            </a:r>
            <a:endParaRPr lang="en-US" altLang="ja-JP"/>
          </a:p>
          <a:p>
            <a:pPr lvl="1"/>
            <a:r>
              <a:rPr lang="ja-JP" altLang="en-US"/>
              <a:t>プレイヤーを発見したら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各ポイントで一時停止</a:t>
            </a:r>
            <a:endParaRPr lang="en-US" altLang="ja-JP"/>
          </a:p>
          <a:p>
            <a:r>
              <a:rPr lang="en-US" altLang="ja-JP"/>
              <a:t>Chase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プレイヤーに向かって移動</a:t>
            </a:r>
            <a:endParaRPr lang="en-US" altLang="ja-JP"/>
          </a:p>
          <a:p>
            <a:pPr lvl="1"/>
            <a:r>
              <a:rPr lang="ja-JP" altLang="en-US"/>
              <a:t>攻撃範囲内に入ったら</a:t>
            </a:r>
            <a:r>
              <a:rPr lang="ja-JP" altLang="en-US">
                <a:solidFill>
                  <a:schemeClr val="accent2"/>
                </a:solidFill>
              </a:rPr>
              <a:t>攻撃状態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プレイヤーを見失ったら</a:t>
            </a:r>
            <a:r>
              <a:rPr lang="ja-JP" altLang="en-US">
                <a:solidFill>
                  <a:schemeClr val="accent2"/>
                </a:solidFill>
              </a:rPr>
              <a:t>探索状態</a:t>
            </a:r>
            <a:r>
              <a:rPr lang="ja-JP" altLang="en-US"/>
              <a:t>へ</a:t>
            </a:r>
            <a:endParaRPr lang="en-US" altLang="ja-JP"/>
          </a:p>
          <a:p>
            <a:r>
              <a:rPr lang="en-US" altLang="ja-JP"/>
              <a:t>Attack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プレイヤーに攻撃を行う</a:t>
            </a:r>
            <a:endParaRPr lang="en-US" altLang="ja-JP"/>
          </a:p>
          <a:p>
            <a:pPr lvl="1"/>
            <a:r>
              <a:rPr lang="ja-JP" altLang="en-US"/>
              <a:t>攻撃後はクールダウン</a:t>
            </a:r>
            <a:endParaRPr lang="en-US" altLang="ja-JP"/>
          </a:p>
          <a:p>
            <a:pPr lvl="1"/>
            <a:r>
              <a:rPr lang="ja-JP" altLang="en-US"/>
              <a:t>プレイヤーが範囲外なら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r>
              <a:rPr lang="en-US" altLang="ja-JP"/>
              <a:t>Search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最後に見た位置を探索</a:t>
            </a:r>
            <a:endParaRPr lang="en-US" altLang="ja-JP"/>
          </a:p>
          <a:p>
            <a:pPr lvl="1"/>
            <a:r>
              <a:rPr lang="ja-JP" altLang="en-US"/>
              <a:t>プレイヤーを再発見したら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一定時間後に</a:t>
            </a:r>
            <a:r>
              <a:rPr lang="ja-JP" altLang="en-US">
                <a:solidFill>
                  <a:schemeClr val="accent2"/>
                </a:solidFill>
              </a:rPr>
              <a:t>パトロール状態</a:t>
            </a:r>
            <a:r>
              <a:rPr lang="ja-JP" altLang="en-US"/>
              <a:t>へ</a:t>
            </a:r>
            <a:endParaRPr lang="en-US" altLang="ja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2E402-5C78-BE96-2DFC-C8ABBBCC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10</a:t>
            </a:fld>
            <a:endParaRPr lang="ja-JP" altLang="en-US"/>
          </a:p>
        </p:txBody>
      </p:sp>
      <p:pic>
        <p:nvPicPr>
          <p:cNvPr id="5" name="Image 9">
            <a:extLst>
              <a:ext uri="{FF2B5EF4-FFF2-40B4-BE49-F238E27FC236}">
                <a16:creationId xmlns:a16="http://schemas.microsoft.com/office/drawing/2014/main" id="{1C7F3819-D9B9-85B7-3A76-7ECB505DB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417" y="1240688"/>
            <a:ext cx="6237063" cy="549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01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73604E-3B9C-ACC4-BE39-2A5653A5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コンソールアプリで入力を受け取る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A748F5-B52C-34A7-2FEA-0F312DA41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#include &lt;iostream&gt;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namespace </a:t>
            </a:r>
            <a:r>
              <a:rPr lang="en-US" altLang="ja-JP" err="1">
                <a:solidFill>
                  <a:schemeClr val="tx1"/>
                </a:solidFill>
                <a:latin typeface="Consolas" panose="020B0609020204030204" pitchFamily="49" charset="0"/>
              </a:rPr>
              <a:t>ConsoleInput</a:t>
            </a: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char </a:t>
            </a:r>
            <a:r>
              <a:rPr lang="en-US" altLang="ja-JP" err="1">
                <a:solidFill>
                  <a:schemeClr val="tx1"/>
                </a:solidFill>
                <a:latin typeface="Consolas" panose="020B0609020204030204" pitchFamily="49" charset="0"/>
              </a:rPr>
              <a:t>GetChar</a:t>
            </a: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return std::</a:t>
            </a:r>
            <a:r>
              <a:rPr kumimoji="1" lang="en-US" altLang="ja-JP" err="1">
                <a:solidFill>
                  <a:schemeClr val="tx1"/>
                </a:solidFill>
                <a:latin typeface="Consolas" panose="020B0609020204030204" pitchFamily="49" charset="0"/>
              </a:rPr>
              <a:t>cin.get</a:t>
            </a: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  <a:b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std::string </a:t>
            </a:r>
            <a:r>
              <a:rPr kumimoji="1" lang="en-US" altLang="ja-JP" err="1">
                <a:solidFill>
                  <a:schemeClr val="tx1"/>
                </a:solidFill>
                <a:latin typeface="Consolas" panose="020B0609020204030204" pitchFamily="49" charset="0"/>
              </a:rPr>
              <a:t>GetString</a:t>
            </a: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  <a:b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kumimoji="1"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  std::string input;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  std::</a:t>
            </a:r>
            <a:r>
              <a:rPr lang="en-US" altLang="ja-JP" err="1">
                <a:solidFill>
                  <a:schemeClr val="tx1"/>
                </a:solidFill>
                <a:latin typeface="Consolas" panose="020B0609020204030204" pitchFamily="49" charset="0"/>
              </a:rPr>
              <a:t>getline</a:t>
            </a: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(std::</a:t>
            </a:r>
            <a:r>
              <a:rPr lang="en-US" altLang="ja-JP" err="1">
                <a:solidFill>
                  <a:schemeClr val="tx1"/>
                </a:solidFill>
                <a:latin typeface="Consolas" panose="020B0609020204030204" pitchFamily="49" charset="0"/>
              </a:rPr>
              <a:t>cin</a:t>
            </a: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, input);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  return input;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  <a:b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ja-JP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endParaRPr kumimoji="1" lang="en-US" altLang="ja-JP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257D12-48BF-C280-7CC8-3AE4ED59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16969598"/>
      </p:ext>
    </p:extLst>
  </p:cSld>
  <p:clrMapOvr>
    <a:masterClrMapping/>
  </p:clrMapOvr>
</p:sld>
</file>

<file path=ppt/theme/theme1.xml><?xml version="1.0" encoding="utf-8"?>
<a:theme xmlns:a="http://schemas.openxmlformats.org/drawingml/2006/main" name="CLOUD CREATIVE STUDIOS, INC.">
  <a:themeElements>
    <a:clrScheme name="CLOUD CREATIVE STUDIOS, INC.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0E9"/>
      </a:accent1>
      <a:accent2>
        <a:srgbClr val="E60012"/>
      </a:accent2>
      <a:accent3>
        <a:srgbClr val="FFF1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OUD CREATIVE STUDIOS, INC.">
      <a:majorFont>
        <a:latin typeface="HGP創英角ｺﾞｼｯｸUB"/>
        <a:ea typeface="HG創英角ｺﾞｼｯｸUB"/>
        <a:cs typeface=""/>
      </a:majorFont>
      <a:minorFont>
        <a:latin typeface="HGP創英角ｺﾞｼｯｸUB"/>
        <a:ea typeface="HGS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コンストラクタの使い方" id="{B4D26422-EF22-4749-A37B-4F95BA192464}" vid="{E1CBD8AE-53C3-4965-B370-C7A6DC7FCD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27C6B184D3A5D4EAAB411F5F7E654A4" ma:contentTypeVersion="3" ma:contentTypeDescription="新しいドキュメントを作成します。" ma:contentTypeScope="" ma:versionID="ff659de2dc9403655b5250ccb9023000">
  <xsd:schema xmlns:xsd="http://www.w3.org/2001/XMLSchema" xmlns:xs="http://www.w3.org/2001/XMLSchema" xmlns:p="http://schemas.microsoft.com/office/2006/metadata/properties" xmlns:ns2="f596ef32-5378-4823-961e-50c2ffb211d9" targetNamespace="http://schemas.microsoft.com/office/2006/metadata/properties" ma:root="true" ma:fieldsID="28ab20cd041a9b24bd2fa999347f3924" ns2:_="">
    <xsd:import namespace="f596ef32-5378-4823-961e-50c2ffb21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6ef32-5378-4823-961e-50c2ffb21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495496-0AA4-4373-A4C8-1AD2844733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96ef32-5378-4823-961e-50c2ffb211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F233E4-21D5-4B01-A51A-6B7D34C4CAF7}">
  <ds:schemaRefs>
    <ds:schemaRef ds:uri="http://purl.org/dc/terms/"/>
    <ds:schemaRef ds:uri="http://schemas.microsoft.com/office/2006/metadata/properties"/>
    <ds:schemaRef ds:uri="f596ef32-5378-4823-961e-50c2ffb211d9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87F6E5E-30E8-4CEA-9284-2D349AD853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KDTテンプレート</Template>
  <TotalTime>225</TotalTime>
  <Words>982</Words>
  <Application>Microsoft Office PowerPoint</Application>
  <PresentationFormat>ワイド画面</PresentationFormat>
  <Paragraphs>97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HGP創英角ｺﾞｼｯｸUB</vt:lpstr>
      <vt:lpstr>HGP創英角ｺﾞｼｯｸUB</vt:lpstr>
      <vt:lpstr>Arial</vt:lpstr>
      <vt:lpstr>Consolas</vt:lpstr>
      <vt:lpstr>CLOUD CREATIVE STUDIOS, INC.</vt:lpstr>
      <vt:lpstr>ステートマシン 有限状態機械② FSM（Finite State Machine）</vt:lpstr>
      <vt:lpstr>学習目標</vt:lpstr>
      <vt:lpstr>前回の復習とStateパターンの導入</vt:lpstr>
      <vt:lpstr>enum/switch方式とStateパターンの比較</vt:lpstr>
      <vt:lpstr>ゲーム進行のStateパターン設計</vt:lpstr>
      <vt:lpstr>コード実装例(GameState)</vt:lpstr>
      <vt:lpstr>コード実装例(GameManager)</vt:lpstr>
      <vt:lpstr>コード実装例(TitleState)</vt:lpstr>
      <vt:lpstr>実践：ゲーム状態の遷移</vt:lpstr>
      <vt:lpstr>実践：敵AIを作成</vt:lpstr>
      <vt:lpstr>コンソールアプリで入力を受け取る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ヒープとスタックの基礎理解</dc:title>
  <dc:creator>Akio Jinsenji</dc:creator>
  <cp:lastModifiedBy>com</cp:lastModifiedBy>
  <cp:revision>3</cp:revision>
  <dcterms:created xsi:type="dcterms:W3CDTF">2025-04-20T03:02:31Z</dcterms:created>
  <dcterms:modified xsi:type="dcterms:W3CDTF">2026-09-15T07:10:59Z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0x010100B27C6B184D3A5D4EAAB411F5F7E654A4</vt:lpwstr>
  </property>
</Properties>
</file>