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2" r:id="rId7"/>
    <p:sldId id="273" r:id="rId8"/>
    <p:sldId id="274" r:id="rId9"/>
    <p:sldId id="275" r:id="rId10"/>
    <p:sldId id="276" r:id="rId11"/>
    <p:sldId id="277" r:id="rId12"/>
    <p:sldId id="271" r:id="rId13"/>
    <p:sldId id="27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F6F58C-7D59-48D7-8089-B2B7CA18DC6D}" v="1" dt="2026-07-06T09:54:20.6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72" d="100"/>
          <a:sy n="72" d="100"/>
        </p:scale>
        <p:origin x="81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io Jinsenji 秦泉寺 章夫" userId="988e9aa6-b528-4e7d-9003-87e4f32d5b0d" providerId="ADAL" clId="{9A1D054F-6236-4F21-9BCD-CDAFA275B7C6}"/>
    <pc:docChg chg="modSld">
      <pc:chgData name="Akio Jinsenji 秦泉寺 章夫" userId="988e9aa6-b528-4e7d-9003-87e4f32d5b0d" providerId="ADAL" clId="{9A1D054F-6236-4F21-9BCD-CDAFA275B7C6}" dt="2026-07-06T09:54:25.974" v="12" actId="20577"/>
      <pc:docMkLst>
        <pc:docMk/>
      </pc:docMkLst>
      <pc:sldChg chg="modSp mod">
        <pc:chgData name="Akio Jinsenji 秦泉寺 章夫" userId="988e9aa6-b528-4e7d-9003-87e4f32d5b0d" providerId="ADAL" clId="{9A1D054F-6236-4F21-9BCD-CDAFA275B7C6}" dt="2026-07-06T09:54:25.974" v="12" actId="20577"/>
        <pc:sldMkLst>
          <pc:docMk/>
          <pc:sldMk cId="1456421428" sldId="256"/>
        </pc:sldMkLst>
        <pc:spChg chg="mod">
          <ac:chgData name="Akio Jinsenji 秦泉寺 章夫" userId="988e9aa6-b528-4e7d-9003-87e4f32d5b0d" providerId="ADAL" clId="{9A1D054F-6236-4F21-9BCD-CDAFA275B7C6}" dt="2026-07-06T09:54:25.974" v="12" actId="20577"/>
          <ac:spMkLst>
            <pc:docMk/>
            <pc:sldMk cId="1456421428" sldId="256"/>
            <ac:spMk id="3" creationId="{738FF5A2-A843-443C-BCA9-BB5780BFCF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5F27FF-2D08-44E3-986B-81B14F925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230014-FD82-4EE0-840A-25D21669C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0557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2309C-5D76-449E-996B-011E6904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F6416-C041-41CE-9647-78BFEDDF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097493-491D-4D93-841B-F8F00D8E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30824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2309C-5D76-449E-996B-011E6904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F6416-C041-41CE-9647-78BFEDDFB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45" y="1562793"/>
            <a:ext cx="5359355" cy="450830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097493-491D-4D93-841B-F8F00D8E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FA835DF8-0393-4664-8F35-147DC2F44A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8400" y="1562793"/>
            <a:ext cx="5359355" cy="450830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2705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550815-D38E-4BBB-910C-7A6F33F9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D242D4-D2D4-4A37-A175-0C56DCBAE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8E0B27B6-829C-43E6-B5E1-D3E738D2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9571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3CCB8-EBA2-4413-98C9-D87307BB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1D65F83B-BD0C-45CC-BABD-5271C864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51473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765335-28D4-4C96-ADDA-73419D9B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3908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E91CCAF-4826-46FA-9898-6013DD1F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45" y="464941"/>
            <a:ext cx="11023511" cy="852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63C595-EAF7-4A44-A5B5-A7CE2DA9C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5" y="1562793"/>
            <a:ext cx="11023511" cy="4508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35B4B7E-0CBD-B49F-05AF-5D698FD72438}"/>
              </a:ext>
            </a:extLst>
          </p:cNvPr>
          <p:cNvSpPr txBox="1"/>
          <p:nvPr userDrawn="1"/>
        </p:nvSpPr>
        <p:spPr>
          <a:xfrm>
            <a:off x="3145766" y="6288657"/>
            <a:ext cx="5900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スーパーゲームクリエーター：ゲーム設計・開発</a:t>
            </a:r>
          </a:p>
        </p:txBody>
      </p:sp>
    </p:spTree>
    <p:extLst>
      <p:ext uri="{BB962C8B-B14F-4D97-AF65-F5344CB8AC3E}">
        <p14:creationId xmlns:p14="http://schemas.microsoft.com/office/powerpoint/2010/main" val="312822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b="0" kern="1200">
          <a:solidFill>
            <a:schemeClr val="accent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472D19-E61C-484B-8E1A-C9839547A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556" y="1122363"/>
            <a:ext cx="11288889" cy="2387600"/>
          </a:xfrm>
        </p:spPr>
        <p:txBody>
          <a:bodyPr>
            <a:normAutofit/>
          </a:bodyPr>
          <a:lstStyle/>
          <a:p>
            <a:r>
              <a:rPr kumimoji="1" lang="ja-JP" altLang="en-US"/>
              <a:t>シングルトンパターン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8FF5A2-A843-443C-BCA9-BB5780BFC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5956"/>
            <a:ext cx="9144000" cy="1351844"/>
          </a:xfrm>
        </p:spPr>
        <p:txBody>
          <a:bodyPr/>
          <a:lstStyle/>
          <a:p>
            <a:r>
              <a:rPr kumimoji="1" lang="en-US" altLang="ja-JP"/>
              <a:t>202</a:t>
            </a:r>
            <a:r>
              <a:rPr lang="en-US" altLang="ja-JP"/>
              <a:t>6</a:t>
            </a:r>
            <a:r>
              <a:rPr kumimoji="1" lang="en-US" altLang="ja-JP"/>
              <a:t>/7/7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642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40BB65-2656-D365-BFE2-072AC8CA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シングルトンパターンとは？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2C02EB-4BB7-1474-723E-A2ECAC39F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effectLst/>
              </a:rPr>
              <a:t>クラスのインスタンスが</a:t>
            </a:r>
            <a:r>
              <a:rPr lang="en-US" altLang="ja-JP" b="0" i="0" u="none" strike="noStrike" dirty="0">
                <a:effectLst/>
              </a:rPr>
              <a:t>1</a:t>
            </a:r>
            <a:r>
              <a:rPr lang="ja-JP" altLang="en-US" b="0" i="0" u="none" strike="noStrike">
                <a:effectLst/>
              </a:rPr>
              <a:t>つだけ存在することを保証するデザイン</a:t>
            </a:r>
            <a:r>
              <a:rPr lang="ja-JP" altLang="en-US"/>
              <a:t>パターン</a:t>
            </a:r>
            <a:endParaRPr lang="en-US" altLang="ja-JP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effectLst/>
              </a:rPr>
              <a:t>グローバルアクセスを提供し、状態の一貫性を維持</a:t>
            </a:r>
            <a:endParaRPr lang="en-US" altLang="ja-JP" b="0" i="0" u="none" strike="noStrike" dirty="0">
              <a:effectLst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502EB8-4DB7-6462-1053-75D1947C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607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60A48B-CE03-8347-61A1-08A94C3E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なぜシングルトンパターンを利用するのか？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C67A8F-32F3-1C02-F451-E3C6DB36D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ja-JP" altLang="en-US"/>
              <a:t>インスタンスを複数作成すると問題が起きる場面（例：設定管理、ログ管理、リソース管理など）で有効</a:t>
            </a:r>
            <a:endParaRPr lang="ja-JP" altLang="en-US" b="0" i="0" u="none" strike="noStrike">
              <a:solidFill>
                <a:srgbClr val="000000"/>
              </a:solidFill>
              <a:effectLst/>
            </a:endParaRPr>
          </a:p>
          <a:p>
            <a:r>
              <a:rPr kumimoji="1" lang="ja-JP" altLang="en-US"/>
              <a:t>状態や設定を一元管理し、グローバルなアクセスが容易になる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1A4DEF-BD82-E1D7-08DA-C82BE2AB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5511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CDA655-3F83-0D74-FE52-10D029CC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シングルトンの基本形（</a:t>
            </a:r>
            <a:r>
              <a:rPr lang="en" altLang="ja-JP" b="1" i="0" u="none" strike="noStrike" dirty="0">
                <a:solidFill>
                  <a:srgbClr val="000000"/>
                </a:solidFill>
                <a:effectLst/>
              </a:rPr>
              <a:t>C#/C++</a:t>
            </a:r>
            <a:r>
              <a:rPr lang="ja-JP" altLang="en" b="1" i="0" u="none" strike="noStrike">
                <a:solidFill>
                  <a:srgbClr val="000000"/>
                </a:solidFill>
                <a:effectLst/>
              </a:rPr>
              <a:t>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B104A2-EB42-EE38-3E83-B8A3FA063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class </a:t>
            </a:r>
            <a:r>
              <a:rPr kumimoji="1" lang="en" altLang="ja-JP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private:</a:t>
            </a:r>
          </a:p>
          <a:p>
            <a:pPr marL="0" indent="0">
              <a:buNone/>
            </a:pP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kumimoji="1" lang="en" altLang="ja-JP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() {}</a:t>
            </a:r>
          </a:p>
          <a:p>
            <a:pPr marL="0" indent="0">
              <a:buNone/>
            </a:pPr>
            <a:endParaRPr kumimoji="1" lang="en" altLang="ja-JP" sz="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public:</a:t>
            </a:r>
          </a:p>
          <a:p>
            <a:pPr marL="0" indent="0">
              <a:buNone/>
            </a:pP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    // </a:t>
            </a:r>
            <a:r>
              <a:rPr kumimoji="1" lang="ja-JP" altLang="en-US" sz="800" dirty="0">
                <a:solidFill>
                  <a:schemeClr val="tx1"/>
                </a:solidFill>
                <a:latin typeface="Consolas" panose="020B0609020204030204" pitchFamily="49" charset="0"/>
              </a:rPr>
              <a:t>コピー・代入の禁止</a:t>
            </a:r>
          </a:p>
          <a:p>
            <a:pPr marL="0" indent="0">
              <a:buNone/>
            </a:pPr>
            <a:r>
              <a:rPr kumimoji="1" lang="ja-JP" altLang="en-US" sz="8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kumimoji="1" lang="en" altLang="ja-JP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(const </a:t>
            </a:r>
            <a:r>
              <a:rPr kumimoji="1" lang="en" altLang="ja-JP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&amp;) = delete;</a:t>
            </a:r>
          </a:p>
          <a:p>
            <a:pPr marL="0" indent="0">
              <a:buNone/>
            </a:pP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kumimoji="1" lang="en" altLang="ja-JP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&amp; operator=(const </a:t>
            </a:r>
            <a:r>
              <a:rPr kumimoji="1" lang="en" altLang="ja-JP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&amp;) = delete;</a:t>
            </a:r>
          </a:p>
          <a:p>
            <a:pPr marL="0" indent="0">
              <a:buNone/>
            </a:pPr>
            <a:endParaRPr kumimoji="1" lang="en" altLang="ja-JP" sz="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    static </a:t>
            </a:r>
            <a:r>
              <a:rPr kumimoji="1" lang="en" altLang="ja-JP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&amp; Instance() {</a:t>
            </a:r>
          </a:p>
          <a:p>
            <a:pPr marL="0" indent="0">
              <a:buNone/>
            </a:pP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        static </a:t>
            </a:r>
            <a:r>
              <a:rPr kumimoji="1" lang="en" altLang="ja-JP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 instance; // C++11</a:t>
            </a:r>
            <a:r>
              <a:rPr kumimoji="1" lang="ja-JP" altLang="en-US" sz="800" dirty="0">
                <a:solidFill>
                  <a:schemeClr val="tx1"/>
                </a:solidFill>
                <a:latin typeface="Consolas" panose="020B0609020204030204" pitchFamily="49" charset="0"/>
              </a:rPr>
              <a:t>以降のスレッドセーフなローカル</a:t>
            </a: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static</a:t>
            </a:r>
          </a:p>
          <a:p>
            <a:pPr marL="0" indent="0">
              <a:buNone/>
            </a:pP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        return instance;</a:t>
            </a:r>
          </a:p>
          <a:p>
            <a:pPr marL="0" indent="0">
              <a:buNone/>
            </a:pP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kumimoji="1" lang="en" altLang="ja-JP" sz="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    void </a:t>
            </a:r>
            <a:r>
              <a:rPr kumimoji="1" lang="en" altLang="ja-JP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StartGame</a:t>
            </a: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        // </a:t>
            </a:r>
            <a:r>
              <a:rPr kumimoji="1" lang="ja-JP" altLang="en-US" sz="800" dirty="0">
                <a:solidFill>
                  <a:schemeClr val="tx1"/>
                </a:solidFill>
                <a:latin typeface="Consolas" panose="020B0609020204030204" pitchFamily="49" charset="0"/>
              </a:rPr>
              <a:t>ゲーム開始処理</a:t>
            </a:r>
          </a:p>
          <a:p>
            <a:pPr marL="0" indent="0">
              <a:buNone/>
            </a:pPr>
            <a:r>
              <a:rPr kumimoji="1" lang="ja-JP" altLang="en-US" sz="8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kumimoji="1" lang="en-US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kumimoji="1" lang="en-US" altLang="ja-JP" sz="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1" lang="en-US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kumimoji="1" lang="ja-JP" altLang="en-US" sz="800" dirty="0">
                <a:solidFill>
                  <a:schemeClr val="tx1"/>
                </a:solidFill>
                <a:latin typeface="Consolas" panose="020B0609020204030204" pitchFamily="49" charset="0"/>
              </a:rPr>
              <a:t>使用例</a:t>
            </a:r>
          </a:p>
          <a:p>
            <a:pPr marL="0" indent="0">
              <a:buNone/>
            </a:pPr>
            <a:r>
              <a:rPr kumimoji="1" lang="en" altLang="ja-JP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::Instance().</a:t>
            </a:r>
            <a:r>
              <a:rPr kumimoji="1" lang="en" altLang="ja-JP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StartGame</a:t>
            </a:r>
            <a:r>
              <a:rPr kumimoji="1" lang="en" altLang="ja-JP" sz="8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  <a:endParaRPr kumimoji="1" lang="ja-JP" altLang="en-US" sz="8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F7CF47-728C-41E1-18AF-8F84ED35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9813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EDA898-FACD-C218-8668-6044BC96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静的クラスと動的クラスの違い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0DDBA9-D9CC-FC75-CD06-8EBD50E1C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ja-JP" altLang="en-US" b="1" i="0" u="none" strike="noStrike">
                <a:effectLst/>
              </a:rPr>
              <a:t>静的クラス</a:t>
            </a:r>
            <a:endParaRPr lang="ja-JP" altLang="en-US" b="0" i="0" u="none" strike="noStrike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インスタンスを生成せず、直接クラス名を通じてメンバにアクセス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状態を持たないため、常に同じ挙動を保証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例：ユーティリティクラス（</a:t>
            </a:r>
            <a:r>
              <a:rPr lang="en" altLang="ja-JP" b="0" i="0" u="none" strike="noStrike" dirty="0">
                <a:solidFill>
                  <a:srgbClr val="000000"/>
                </a:solidFill>
                <a:effectLst/>
              </a:rPr>
              <a:t>Math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クラスなど）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en-US" b="1" i="0" u="none" strike="noStrike">
                <a:effectLst/>
              </a:rPr>
              <a:t>動的クラス（通常のクラス）</a:t>
            </a:r>
            <a:endParaRPr lang="ja-JP" altLang="en-US" b="0" i="0" u="none" strike="noStrike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インスタンスを生成し、そのインスタンスごとに異なる状態を持つ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各インスタンスは独立して動作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例：プレイヤークラス、敵キャラクタークラス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12B999-A33D-A402-1DB0-76D90191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01205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55EC6F-BADF-2170-970C-7457B0B31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なぜ </a:t>
            </a:r>
            <a:r>
              <a:rPr lang="en" altLang="ja-JP" b="1" i="0" u="none" strike="noStrike" dirty="0">
                <a:solidFill>
                  <a:srgbClr val="000000"/>
                </a:solidFill>
                <a:effectLst/>
              </a:rPr>
              <a:t>static</a:t>
            </a:r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を使うのが望ましいのか？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7B8D87-0978-DE79-F01D-C57F7E263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ja-JP" altLang="en-US" b="1" i="0" u="none" strike="noStrike">
                <a:effectLst/>
              </a:rPr>
              <a:t>スレッドセーフ性が保証される（</a:t>
            </a:r>
            <a:r>
              <a:rPr lang="en" altLang="ja-JP" b="1" i="0" u="none" strike="noStrike" dirty="0">
                <a:effectLst/>
              </a:rPr>
              <a:t>C++11</a:t>
            </a:r>
            <a:r>
              <a:rPr lang="ja-JP" altLang="en-US" b="1" i="0" u="none" strike="noStrike">
                <a:effectLst/>
              </a:rPr>
              <a:t>以降）</a:t>
            </a:r>
            <a:endParaRPr lang="ja-JP" altLang="en-US" b="0" i="0" u="none" strike="noStrike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ja-JP" b="0" i="0" u="none" strike="noStrike" dirty="0">
                <a:solidFill>
                  <a:srgbClr val="000000"/>
                </a:solidFill>
                <a:effectLst/>
              </a:rPr>
              <a:t>static 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変数は初回アクセス時に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</a:rPr>
              <a:t>1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回だけ初期化され、複数スレッドからの同時アクセスでも安全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en-US" b="1" i="0" u="none" strike="noStrike">
                <a:effectLst/>
              </a:rPr>
              <a:t>遅延初期化が可能</a:t>
            </a:r>
            <a:endParaRPr lang="ja-JP" altLang="en-US" b="0" i="0" u="none" strike="noStrike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実際に使われるまでインスタンスが生成されないため、無駄なリソース消費を避けられる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en-US" b="1" i="0" u="none" strike="noStrike">
                <a:effectLst/>
              </a:rPr>
              <a:t>コードが簡潔でバグが少ない</a:t>
            </a:r>
            <a:endParaRPr lang="ja-JP" altLang="en-US" b="0" i="0" u="none" strike="noStrike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明示的なロックや複雑な初期化ロジックが不要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3E6591-86E4-6B45-CBC6-DC733410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09084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512A2E-44EF-1502-4E86-2C90DA3B3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シングルトンのメリット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BC35CE-DAE5-07E8-2EB1-584D5ADE0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effectLst/>
              </a:rPr>
              <a:t>グローバルなアクセスポイントが明確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effectLst/>
              </a:rPr>
              <a:t>状態の一貫性を簡単に維持できる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effectLst/>
              </a:rPr>
              <a:t>リソース管理や設定管理が効率的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EBD9FA-6AF2-A758-E09C-3BC98B6D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33495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AD45F9-C13B-BBF7-8B98-CA4BF302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シングルトン利用時の注意点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AD9117-6EA0-9A9A-0C42-5E585F7D2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effectLst/>
              </a:rPr>
              <a:t>過度な使用はコードのテストや保守性を下げる恐れがある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effectLst/>
              </a:rPr>
              <a:t>マルチスレッド環境ではスレッドセーフな設計が必要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effectLst/>
              </a:rPr>
              <a:t>依存性が隠蔽されやすく、コードの理解が難しくなる可能性がある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7D666D-822C-9839-37CD-FF287996C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16762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BB468F-851A-15B3-EBF3-23FD1ADC9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シングルトンのベストプラクティス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38EDDD-8DA7-7328-740F-B0969A1D7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effectLst/>
              </a:rPr>
              <a:t>シングルトンを本当に必要な場所に限定する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effectLst/>
              </a:rPr>
              <a:t>シングルトンの依存関係を明確にする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effectLst/>
              </a:rPr>
              <a:t>可能であれば</a:t>
            </a:r>
            <a:r>
              <a:rPr lang="en" altLang="ja-JP" b="0" i="0" u="none" strike="noStrike" dirty="0">
                <a:effectLst/>
              </a:rPr>
              <a:t>DI</a:t>
            </a:r>
            <a:r>
              <a:rPr lang="ja-JP" altLang="en" b="0" i="0" u="none" strike="noStrike">
                <a:effectLst/>
              </a:rPr>
              <a:t>（</a:t>
            </a:r>
            <a:r>
              <a:rPr lang="ja-JP" altLang="en-US" b="0" i="0" u="none" strike="noStrike">
                <a:effectLst/>
              </a:rPr>
              <a:t>依存性注入）との併用を検討する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2CB0F6-6A11-D76A-2D4F-7B5383FD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57147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20037-36ED-DFC1-22B7-D5804B9E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演習問題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0AFC-AE1D-4C68-7EAC-38F9A9B53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b="0" i="0" u="none" strike="noStrike">
                <a:effectLst/>
              </a:rPr>
              <a:t>シングルトンパターンを利用して、「設定管理クラス」を設計してください。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C1181-F70C-EB38-75D1-92073475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84157012"/>
      </p:ext>
    </p:extLst>
  </p:cSld>
  <p:clrMapOvr>
    <a:masterClrMapping/>
  </p:clrMapOvr>
</p:sld>
</file>

<file path=ppt/theme/theme1.xml><?xml version="1.0" encoding="utf-8"?>
<a:theme xmlns:a="http://schemas.openxmlformats.org/drawingml/2006/main" name="CLOUD CREATIVE STUDIOS, INC.">
  <a:themeElements>
    <a:clrScheme name="CLOUD CREATIVE STUDIOS, INC.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A0E9"/>
      </a:accent1>
      <a:accent2>
        <a:srgbClr val="E60012"/>
      </a:accent2>
      <a:accent3>
        <a:srgbClr val="FFF1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LOUD CREATIVE STUDIOS, INC.">
      <a:majorFont>
        <a:latin typeface="HGP創英角ｺﾞｼｯｸUB"/>
        <a:ea typeface="HG創英角ｺﾞｼｯｸUB"/>
        <a:cs typeface=""/>
      </a:majorFont>
      <a:minorFont>
        <a:latin typeface="HGP創英角ｺﾞｼｯｸUB"/>
        <a:ea typeface="HGS創英角ｺﾞｼｯｸU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コンストラクタの使い方" id="{B4D26422-EF22-4749-A37B-4F95BA192464}" vid="{E1CBD8AE-53C3-4965-B370-C7A6DC7FCDD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27C6B184D3A5D4EAAB411F5F7E654A4" ma:contentTypeVersion="3" ma:contentTypeDescription="新しいドキュメントを作成します。" ma:contentTypeScope="" ma:versionID="ff659de2dc9403655b5250ccb9023000">
  <xsd:schema xmlns:xsd="http://www.w3.org/2001/XMLSchema" xmlns:xs="http://www.w3.org/2001/XMLSchema" xmlns:p="http://schemas.microsoft.com/office/2006/metadata/properties" xmlns:ns2="f596ef32-5378-4823-961e-50c2ffb211d9" targetNamespace="http://schemas.microsoft.com/office/2006/metadata/properties" ma:root="true" ma:fieldsID="28ab20cd041a9b24bd2fa999347f3924" ns2:_="">
    <xsd:import namespace="f596ef32-5378-4823-961e-50c2ffb211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96ef32-5378-4823-961e-50c2ffb211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7F6E5E-30E8-4CEA-9284-2D349AD853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F233E4-21D5-4B01-A51A-6B7D34C4CAF7}">
  <ds:schemaRefs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c66be55c-4243-4260-a917-9489a6ffdb8b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5E39CA4-B236-4A40-B36B-D32BBCCF0953}"/>
</file>

<file path=docProps/app.xml><?xml version="1.0" encoding="utf-8"?>
<Properties xmlns="http://schemas.openxmlformats.org/officeDocument/2006/extended-properties" xmlns:vt="http://schemas.openxmlformats.org/officeDocument/2006/docPropsVTypes">
  <Template>KDTテンプレート</Template>
  <TotalTime>139</TotalTime>
  <Words>448</Words>
  <Application>Microsoft Office PowerPoint</Application>
  <PresentationFormat>ワイド画面</PresentationFormat>
  <Paragraphs>69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HGP創英角ｺﾞｼｯｸUB</vt:lpstr>
      <vt:lpstr>Arial</vt:lpstr>
      <vt:lpstr>Consolas</vt:lpstr>
      <vt:lpstr>CLOUD CREATIVE STUDIOS, INC.</vt:lpstr>
      <vt:lpstr>シングルトンパターン</vt:lpstr>
      <vt:lpstr>シングルトンパターンとは？</vt:lpstr>
      <vt:lpstr>なぜシングルトンパターンを利用するのか？</vt:lpstr>
      <vt:lpstr>シングルトンの基本形（C#/C++）</vt:lpstr>
      <vt:lpstr>静的クラスと動的クラスの違い</vt:lpstr>
      <vt:lpstr>なぜ staticを使うのが望ましいのか？</vt:lpstr>
      <vt:lpstr>シングルトンのメリット</vt:lpstr>
      <vt:lpstr>シングルトン利用時の注意点</vt:lpstr>
      <vt:lpstr>シングルトンのベストプラクティス</vt:lpstr>
      <vt:lpstr>演習問題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シングルトンパターン</dc:title>
  <dc:creator>Akio Jinsenji</dc:creator>
  <cp:lastModifiedBy>Akio Jinsenji 秦泉寺 章夫</cp:lastModifiedBy>
  <cp:revision>20</cp:revision>
  <dcterms:created xsi:type="dcterms:W3CDTF">2025-04-20T03:02:31Z</dcterms:created>
  <dcterms:modified xsi:type="dcterms:W3CDTF">2026-07-06T09:54:28Z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0x010100B27C6B184D3A5D4EAAB411F5F7E654A4</vt:lpwstr>
  </property>
</Properties>
</file>